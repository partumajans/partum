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Açılış: 'Markanız güçlü; biz bugün sistemlerinizi tek tek inceleyip nerede satış ve verim kaybı olduğunu, her birini nasıl çözeceğimizi göstereceğiz.' Ton: eleştiri değil, fırsat.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Diplomatik çerçeve: önce güçlü yönleri onayla, sonra 'eksik' kelimesini yumuşatarak sistem denetimi olarak sun. Alttaki notu mutlaka söyle — tespitleri kesin teşhis değil, erişim sonrası netleşecek gözlemler olarak konumla. Bu güvenilirliği korur.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Bu, sunumun kalbi: tek bakışta 8 açık. Her birinin ilerleyen slaytlarda çözüm+etki ile açılacağını söyle. Sıralama önem sırası değil; önceliki 8. slaytta veriyoruz.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Vurgu: ölçüm olmadan reklam bütçesi karanlıkta harcanır. E-posta/SMS ve CRM, bedava trafik olan mevcut müşteriden gelir üretir — en hızlı geri dönüş burada.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Kilit gelir slaytı. Organik güçleri övgüyle başla, sonra 'ama bunu satışa çeviren performans katmanı eksik' de. Katalog + remarketing e-ticarette en yüksek getiriyi verir.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Mesaj: içerik reklamın yakıtıdır. Sürekli taze kreatif olmadan reklam ölçeklenemez. UGC hem güven hem ücretsiz erişim getirir.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Farklılaştırıcı nokta: çoğu ajans siteye dokunmaz, sadece reklam yapar. Biz Ticimax panelini de yönetiriz — böylece kazanılan trafik gerçekten satışa döner. Bu bizim en güçlü ayrışma noktamız.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 slayt güven inşa eder: 'büyük bütçe taahhüdü istemeden, ilk ayda somut sonuç' mesajı. Hızlı kazanımlar riski düşürür ve ilişkiyi başlatır.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Beklenti yönetimi: 1. ay kurulum ve hızlı kazanımlar, gerçek ivme 2-3. ayda. Her ay sonunda birlikte değerlendirme yaparız.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Güven mesajı: her şey ölçülür, baseline'dan hedefe ilerleme şeffaf paylaşılır. Firma panellere kendi erişimini alır. KPI'ları birlikte tanımlarız.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Kapanış: net ve düşük riskli bir sonraki adım öner — erişim + 30 günlük hızlı kazanım paketi. Sonuçlara göre büyütmeyi teklif et. Soruları al, hedefleri birlikte tanımla.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image" Target="../media/image-4-10.pn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image" Target="../media/image-5-9.png"/><Relationship Id="rId10" Type="http://schemas.openxmlformats.org/officeDocument/2006/relationships/image" Target="../media/image-5-10.png"/><Relationship Id="rId11" Type="http://schemas.openxmlformats.org/officeDocument/2006/relationships/image" Target="../media/image-5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image" Target="../media/image-6-8.png"/><Relationship Id="rId9" Type="http://schemas.openxmlformats.org/officeDocument/2006/relationships/image" Target="../media/image-6-9.png"/><Relationship Id="rId10" Type="http://schemas.openxmlformats.org/officeDocument/2006/relationships/image" Target="../media/image-6-10.png"/><Relationship Id="rId11" Type="http://schemas.openxmlformats.org/officeDocument/2006/relationships/image" Target="../media/image-6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image" Target="../media/image-7-8.png"/><Relationship Id="rId9" Type="http://schemas.openxmlformats.org/officeDocument/2006/relationships/image" Target="../media/image-7-9.png"/><Relationship Id="rId10" Type="http://schemas.openxmlformats.org/officeDocument/2006/relationships/image" Target="../media/image-7-10.png"/><Relationship Id="rId11" Type="http://schemas.openxmlformats.org/officeDocument/2006/relationships/image" Target="../media/image-7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slideLayout" Target="../slideLayouts/slideLayout1.xml"/><Relationship Id="rId1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103120"/>
            <a:ext cx="5852160" cy="5852160"/>
          </a:xfrm>
          <a:prstGeom prst="ellipse">
            <a:avLst/>
          </a:prstGeom>
          <a:solidFill>
            <a:srgbClr val="111A55"/>
          </a:solidFill>
          <a:ln/>
        </p:spPr>
      </p:sp>
      <p:sp>
        <p:nvSpPr>
          <p:cNvPr id="3" name="Shape 1"/>
          <p:cNvSpPr/>
          <p:nvPr/>
        </p:nvSpPr>
        <p:spPr>
          <a:xfrm>
            <a:off x="10424160" y="3383280"/>
            <a:ext cx="4206240" cy="4206240"/>
          </a:xfrm>
          <a:prstGeom prst="ellipse">
            <a:avLst/>
          </a:prstGeom>
          <a:solidFill>
            <a:srgbClr val="1E40D6"/>
          </a:solidFill>
          <a:ln/>
        </p:spPr>
      </p:sp>
      <p:sp>
        <p:nvSpPr>
          <p:cNvPr id="4" name="Shape 2"/>
          <p:cNvSpPr/>
          <p:nvPr/>
        </p:nvSpPr>
        <p:spPr>
          <a:xfrm>
            <a:off x="822960" y="777240"/>
            <a:ext cx="822960" cy="822960"/>
          </a:xfrm>
          <a:prstGeom prst="ellipse">
            <a:avLst/>
          </a:prstGeom>
          <a:solidFill>
            <a:srgbClr val="1E40D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6930" y="991210"/>
            <a:ext cx="395021" cy="39502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83080" y="86868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RAGYU  premium kasap+</a:t>
            </a:r>
            <a:endParaRPr lang="en-US" sz="2100" dirty="0"/>
          </a:p>
        </p:txBody>
      </p:sp>
      <p:sp>
        <p:nvSpPr>
          <p:cNvPr id="7" name="Text 4"/>
          <p:cNvSpPr/>
          <p:nvPr/>
        </p:nvSpPr>
        <p:spPr>
          <a:xfrm>
            <a:off x="868680" y="22860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5B7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DİJİTAL SİSTEM ANALİZİ &amp; ÇÖZÜM ÖNERİSİ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651760"/>
            <a:ext cx="87782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Mevcut Sistemdeki Eksikler</a:t>
            </a:r>
            <a:endParaRPr lang="en-US" sz="4400" dirty="0"/>
          </a:p>
          <a:p>
            <a:pPr indent="0" marL="0">
              <a:lnSpc>
                <a:spcPct val="10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 Bizim Çözüm Planımız</a:t>
            </a:r>
            <a:endParaRPr lang="en-US" sz="4400" dirty="0"/>
          </a:p>
        </p:txBody>
      </p:sp>
      <p:sp>
        <p:nvSpPr>
          <p:cNvPr id="9" name="Text 6"/>
          <p:cNvSpPr/>
          <p:nvPr/>
        </p:nvSpPr>
        <p:spPr>
          <a:xfrm>
            <a:off x="868680" y="4526280"/>
            <a:ext cx="7955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500" dirty="0">
                <a:solidFill>
                  <a:srgbClr val="C9C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Dijital pazarlama, reklam yönetimi, içerik üretimi ve Ticimax altyapısını tek tek inceledik — her eksiği çözüm ve ölçülebilir etkiyle eşleştirdik.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868680" y="5623560"/>
            <a:ext cx="3657600" cy="0"/>
          </a:xfrm>
          <a:prstGeom prst="line">
            <a:avLst/>
          </a:prstGeom>
          <a:noFill/>
          <a:ln w="25400">
            <a:solidFill>
              <a:srgbClr val="1E40D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68680" y="577900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Hazırlayan: Partum Ajans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68680" y="611733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AA2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 Sunumu  ·  Salı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4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NASIL İNCELEDİK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1155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Yaklaşımımız: Güçlü Temel + Sistem Denetimi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Ragyu'nun güçlü marka ve premium ürün temeli üzerine, satışı hızlandıracak dijital sistemi kuruyoruz.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0908792" cy="1097280"/>
          </a:xfrm>
          <a:prstGeom prst="roundRect">
            <a:avLst>
              <a:gd name="adj" fmla="val 7500"/>
            </a:avLst>
          </a:prstGeom>
          <a:solidFill>
            <a:srgbClr val="F5F1E8"/>
          </a:solidFill>
          <a:ln w="12700">
            <a:solidFill>
              <a:srgbClr val="E3DE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441448"/>
            <a:ext cx="512064" cy="512064"/>
          </a:xfrm>
          <a:prstGeom prst="ellipse">
            <a:avLst/>
          </a:prstGeom>
          <a:solidFill>
            <a:srgbClr val="1E40D6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7537" y="2574585"/>
            <a:ext cx="245791" cy="2457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600200" y="2295144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3D9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2331720" y="233172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Güçlü Temeli Koruyoruz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2331720" y="269748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Premium ürün, kendi çiftliği, Türkiye geneli kargo ve güçlü mavi marka kimliği — hepsi büyük avantaj. Bunlara dokunmuyoruz.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640080" y="3383280"/>
            <a:ext cx="10908792" cy="1097280"/>
          </a:xfrm>
          <a:prstGeom prst="roundRect">
            <a:avLst>
              <a:gd name="adj" fmla="val 7500"/>
            </a:avLst>
          </a:prstGeom>
          <a:solidFill>
            <a:srgbClr val="F5F1E8"/>
          </a:solidFill>
          <a:ln w="12700">
            <a:solidFill>
              <a:srgbClr val="E3DED2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914400" y="3675888"/>
            <a:ext cx="512064" cy="512064"/>
          </a:xfrm>
          <a:prstGeom prst="ellipse">
            <a:avLst/>
          </a:prstGeom>
          <a:solidFill>
            <a:srgbClr val="1E40D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7537" y="380902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00200" y="3529584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3D9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5" name="Text 11"/>
          <p:cNvSpPr/>
          <p:nvPr/>
        </p:nvSpPr>
        <p:spPr>
          <a:xfrm>
            <a:off x="2331720" y="356616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Sistemi Uçtan Uca İnceledik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2331720" y="393192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sitesi, sosyal medya ve Ticimax altyapısını; ölçüm, reklam, içerik ve dönüşüm açısından değerlendirdik.</a:t>
            </a:r>
            <a:endParaRPr lang="en-US" sz="1250" dirty="0"/>
          </a:p>
        </p:txBody>
      </p:sp>
      <p:sp>
        <p:nvSpPr>
          <p:cNvPr id="17" name="Shape 13"/>
          <p:cNvSpPr/>
          <p:nvPr/>
        </p:nvSpPr>
        <p:spPr>
          <a:xfrm>
            <a:off x="640080" y="4617720"/>
            <a:ext cx="10908792" cy="1097280"/>
          </a:xfrm>
          <a:prstGeom prst="roundRect">
            <a:avLst>
              <a:gd name="adj" fmla="val 7500"/>
            </a:avLst>
          </a:prstGeom>
          <a:solidFill>
            <a:srgbClr val="F5F1E8"/>
          </a:solidFill>
          <a:ln w="12700">
            <a:solidFill>
              <a:srgbClr val="E3DED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914400" y="4910328"/>
            <a:ext cx="512064" cy="512064"/>
          </a:xfrm>
          <a:prstGeom prst="ellipse">
            <a:avLst/>
          </a:prstGeom>
          <a:solidFill>
            <a:srgbClr val="1E40D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7537" y="5043465"/>
            <a:ext cx="245791" cy="245791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00200" y="4764024"/>
            <a:ext cx="731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3D9E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21" name="Text 16"/>
          <p:cNvSpPr/>
          <p:nvPr/>
        </p:nvSpPr>
        <p:spPr>
          <a:xfrm>
            <a:off x="2331720" y="4800600"/>
            <a:ext cx="9052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Eksiği Çözüme Bağladık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2331720" y="5166360"/>
            <a:ext cx="9052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Tespit ettiğimiz her eksiği somut bir çözüm ve ölçülebilir bir etki (satış, dönüşüm, verim) ile eşleştirdik.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640080" y="5989320"/>
            <a:ext cx="10908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Not: Aşağıdaki tespitler herkese açık web/sosyal incelemesine dayanır; kesin teşhis panel ve reklam/analitik hesap erişimiyle netleştirilecektir.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7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YÖNETİCİ ÖZETİ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Tespit Edilen Başlıca Eksikler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Satış ve verim kaybına yol açan, çözülebilir sekiz temel açık: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111A55"/>
          </a:solidFill>
          <a:ln/>
        </p:spPr>
      </p:sp>
      <p:sp>
        <p:nvSpPr>
          <p:cNvPr id="6" name="Shape 4"/>
          <p:cNvSpPr/>
          <p:nvPr/>
        </p:nvSpPr>
        <p:spPr>
          <a:xfrm>
            <a:off x="896112" y="2404872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8758" y="2547518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96112" y="30632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Dönüşüm Takibi Eksik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96112" y="344728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 / Meta Pixel / CAPI — hangi kanalın sattığı ölçülemiyor.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56432" y="214884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111A55"/>
          </a:solidFill>
          <a:ln/>
        </p:spPr>
      </p:sp>
      <p:sp>
        <p:nvSpPr>
          <p:cNvPr id="11" name="Shape 8"/>
          <p:cNvSpPr/>
          <p:nvPr/>
        </p:nvSpPr>
        <p:spPr>
          <a:xfrm>
            <a:off x="3712464" y="2404872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5110" y="2547518"/>
            <a:ext cx="263347" cy="263347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12464" y="30632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E-posta &amp; SMS Yok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712464" y="344728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Sepet terk, hoş geldin ve geri kazanım akışları kullanılmıyor.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272784" y="214884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111A55"/>
          </a:solidFill>
          <a:ln/>
        </p:spPr>
      </p:sp>
      <p:sp>
        <p:nvSpPr>
          <p:cNvPr id="16" name="Shape 12"/>
          <p:cNvSpPr/>
          <p:nvPr/>
        </p:nvSpPr>
        <p:spPr>
          <a:xfrm>
            <a:off x="6528816" y="2404872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1462" y="2547518"/>
            <a:ext cx="263347" cy="263347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28816" y="30632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Zayıf Tekrar Satış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528816" y="344728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&amp; segmentasyon yok; alıcılar tek seferlik kalıyor.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089136" y="214884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111A55"/>
          </a:solidFill>
          <a:ln/>
        </p:spPr>
      </p:sp>
      <p:sp>
        <p:nvSpPr>
          <p:cNvPr id="21" name="Shape 16"/>
          <p:cNvSpPr/>
          <p:nvPr/>
        </p:nvSpPr>
        <p:spPr>
          <a:xfrm>
            <a:off x="9345168" y="2404872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7814" y="2547518"/>
            <a:ext cx="263347" cy="263347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45168" y="306324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Yetersiz Performans Reklamı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345168" y="344728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Güçlü organik var; katalog/dinamik reklam kurgusu eksik.</a:t>
            </a:r>
            <a:endParaRPr lang="en-US" sz="1050" dirty="0"/>
          </a:p>
        </p:txBody>
      </p:sp>
      <p:sp>
        <p:nvSpPr>
          <p:cNvPr id="25" name="Shape 19"/>
          <p:cNvSpPr/>
          <p:nvPr/>
        </p:nvSpPr>
        <p:spPr>
          <a:xfrm>
            <a:off x="640080" y="416052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111A55"/>
          </a:solidFill>
          <a:ln/>
        </p:spPr>
      </p:sp>
      <p:sp>
        <p:nvSpPr>
          <p:cNvPr id="26" name="Shape 20"/>
          <p:cNvSpPr/>
          <p:nvPr/>
        </p:nvSpPr>
        <p:spPr>
          <a:xfrm>
            <a:off x="896112" y="4416552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758" y="4559198"/>
            <a:ext cx="263347" cy="263347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896112" y="50749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&amp; Remarketing Yok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896112" y="545896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Niyetli arama trafiği ve geri kazanım fırsatı kaçıyor.</a:t>
            </a:r>
            <a:endParaRPr lang="en-US" sz="1050" dirty="0"/>
          </a:p>
        </p:txBody>
      </p:sp>
      <p:sp>
        <p:nvSpPr>
          <p:cNvPr id="30" name="Shape 23"/>
          <p:cNvSpPr/>
          <p:nvPr/>
        </p:nvSpPr>
        <p:spPr>
          <a:xfrm>
            <a:off x="3456432" y="416052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111A55"/>
          </a:solidFill>
          <a:ln/>
        </p:spPr>
      </p:sp>
      <p:sp>
        <p:nvSpPr>
          <p:cNvPr id="31" name="Shape 24"/>
          <p:cNvSpPr/>
          <p:nvPr/>
        </p:nvSpPr>
        <p:spPr>
          <a:xfrm>
            <a:off x="3712464" y="4416552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3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55110" y="4559198"/>
            <a:ext cx="263347" cy="263347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3712464" y="50749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Düzensiz Reklam Kreatifi</a:t>
            </a:r>
            <a:endParaRPr lang="en-US" sz="1350" dirty="0"/>
          </a:p>
        </p:txBody>
      </p:sp>
      <p:sp>
        <p:nvSpPr>
          <p:cNvPr id="34" name="Text 26"/>
          <p:cNvSpPr/>
          <p:nvPr/>
        </p:nvSpPr>
        <p:spPr>
          <a:xfrm>
            <a:off x="3712464" y="545896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Reklam için sürekli üretilen taze içerik/UGC deposu yok.</a:t>
            </a:r>
            <a:endParaRPr lang="en-US" sz="1050" dirty="0"/>
          </a:p>
        </p:txBody>
      </p:sp>
      <p:sp>
        <p:nvSpPr>
          <p:cNvPr id="35" name="Shape 27"/>
          <p:cNvSpPr/>
          <p:nvPr/>
        </p:nvSpPr>
        <p:spPr>
          <a:xfrm>
            <a:off x="6272784" y="416052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111A55"/>
          </a:solidFill>
          <a:ln/>
        </p:spPr>
      </p:sp>
      <p:sp>
        <p:nvSpPr>
          <p:cNvPr id="36" name="Shape 28"/>
          <p:cNvSpPr/>
          <p:nvPr/>
        </p:nvSpPr>
        <p:spPr>
          <a:xfrm>
            <a:off x="6528816" y="4416552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37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71462" y="4559198"/>
            <a:ext cx="263347" cy="263347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6528816" y="50749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Hızı &amp; CRO Eksik</a:t>
            </a:r>
            <a:endParaRPr lang="en-US" sz="1350" dirty="0"/>
          </a:p>
        </p:txBody>
      </p:sp>
      <p:sp>
        <p:nvSpPr>
          <p:cNvPr id="39" name="Text 30"/>
          <p:cNvSpPr/>
          <p:nvPr/>
        </p:nvSpPr>
        <p:spPr>
          <a:xfrm>
            <a:off x="6528816" y="545896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sayfası / sepet / ödeme dönüşüme göre optimize değil.</a:t>
            </a:r>
            <a:endParaRPr lang="en-US" sz="1050" dirty="0"/>
          </a:p>
        </p:txBody>
      </p:sp>
      <p:sp>
        <p:nvSpPr>
          <p:cNvPr id="40" name="Shape 31"/>
          <p:cNvSpPr/>
          <p:nvPr/>
        </p:nvSpPr>
        <p:spPr>
          <a:xfrm>
            <a:off x="9089136" y="4160520"/>
            <a:ext cx="2651760" cy="1828800"/>
          </a:xfrm>
          <a:prstGeom prst="roundRect">
            <a:avLst>
              <a:gd name="adj" fmla="val 4500"/>
            </a:avLst>
          </a:prstGeom>
          <a:solidFill>
            <a:srgbClr val="111A55"/>
          </a:solidFill>
          <a:ln/>
        </p:spPr>
      </p:sp>
      <p:sp>
        <p:nvSpPr>
          <p:cNvPr id="41" name="Shape 32"/>
          <p:cNvSpPr/>
          <p:nvPr/>
        </p:nvSpPr>
        <p:spPr>
          <a:xfrm>
            <a:off x="9345168" y="4416552"/>
            <a:ext cx="548640" cy="54864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4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87814" y="4559198"/>
            <a:ext cx="263347" cy="263347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9345168" y="5074920"/>
            <a:ext cx="2194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&amp; Entegrasyon Eksik</a:t>
            </a:r>
            <a:endParaRPr lang="en-US" sz="1350" dirty="0"/>
          </a:p>
        </p:txBody>
      </p:sp>
      <p:sp>
        <p:nvSpPr>
          <p:cNvPr id="44" name="Text 34"/>
          <p:cNvSpPr/>
          <p:nvPr/>
        </p:nvSpPr>
        <p:spPr>
          <a:xfrm>
            <a:off x="9345168" y="5458968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AEB6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içi SEO ayarları ve panel entegrasyonları tamamlanmamış.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4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01 · ÖLÇÜM &amp; DİJİTAL PAZARLAMA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Ölçüm ve Müşteri Sadakati Altyapısı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 olmadan büyüme tahmine dayanır; mevcut müşteri ise yeterince kullanılmıyor.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847088"/>
            <a:ext cx="5440680" cy="3401568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47088"/>
            <a:ext cx="5440680" cy="585216"/>
          </a:xfrm>
          <a:prstGeom prst="roundRect">
            <a:avLst>
              <a:gd name="adj" fmla="val 14063"/>
            </a:avLst>
          </a:prstGeom>
          <a:solidFill>
            <a:srgbClr val="C0392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39696"/>
            <a:ext cx="5440680" cy="2926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965960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048256"/>
            <a:ext cx="182880" cy="182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98448" y="1847088"/>
            <a:ext cx="4617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TESPİT EDİLEN EKSİK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32688" y="2715768"/>
            <a:ext cx="274320" cy="274320"/>
          </a:xfrm>
          <a:prstGeom prst="ellipse">
            <a:avLst/>
          </a:prstGeom>
          <a:solidFill>
            <a:srgbClr val="FBEBE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2779776"/>
            <a:ext cx="146304" cy="1463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44168" y="2615184"/>
            <a:ext cx="4462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A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Dönüşüm takibi eksik: GA4, Meta Pixel ve Conversions API olmadan hangi reklamın sattığı bilinmiyor.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932688" y="3355848"/>
            <a:ext cx="274320" cy="274320"/>
          </a:xfrm>
          <a:prstGeom prst="ellipse">
            <a:avLst/>
          </a:prstGeom>
          <a:solidFill>
            <a:srgbClr val="FBEBE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3419856"/>
            <a:ext cx="146304" cy="14630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44168" y="3255264"/>
            <a:ext cx="4462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A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E-posta/SMS otomasyonu yok: sepette bırakılan siparişler ve eski müşteriler geri kazanılmıyor.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932688" y="3995928"/>
            <a:ext cx="274320" cy="274320"/>
          </a:xfrm>
          <a:prstGeom prst="ellipse">
            <a:avLst/>
          </a:prstGeom>
          <a:solidFill>
            <a:srgbClr val="FBEBE9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4059936"/>
            <a:ext cx="146304" cy="14630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44168" y="3895344"/>
            <a:ext cx="4462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A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&amp; segmentasyon yok: müşteriler tek seferlik kalıyor, tekrar satış düşük.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932688" y="4636008"/>
            <a:ext cx="274320" cy="274320"/>
          </a:xfrm>
          <a:prstGeom prst="ellipse">
            <a:avLst/>
          </a:prstGeom>
          <a:solidFill>
            <a:srgbClr val="FBEBE9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" y="4700016"/>
            <a:ext cx="146304" cy="14630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44168" y="4535424"/>
            <a:ext cx="4462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A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altyapısı zayıf: 'online kasap, wagyu, dry age' aramalarından organik trafik kaçıyor.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6291072" y="1847088"/>
            <a:ext cx="5257800" cy="3401568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291072" y="1847088"/>
            <a:ext cx="5257800" cy="585216"/>
          </a:xfrm>
          <a:prstGeom prst="roundRect">
            <a:avLst>
              <a:gd name="adj" fmla="val 14063"/>
            </a:avLst>
          </a:prstGeom>
          <a:solidFill>
            <a:srgbClr val="1E40D6"/>
          </a:solidFill>
          <a:ln/>
        </p:spPr>
      </p:sp>
      <p:sp>
        <p:nvSpPr>
          <p:cNvPr id="25" name="Shape 18"/>
          <p:cNvSpPr/>
          <p:nvPr/>
        </p:nvSpPr>
        <p:spPr>
          <a:xfrm>
            <a:off x="6291072" y="2139696"/>
            <a:ext cx="5257800" cy="292608"/>
          </a:xfrm>
          <a:prstGeom prst="rect">
            <a:avLst/>
          </a:prstGeom>
          <a:solidFill>
            <a:srgbClr val="1E40D6"/>
          </a:solidFill>
          <a:ln/>
        </p:spPr>
      </p:sp>
      <p:sp>
        <p:nvSpPr>
          <p:cNvPr id="26" name="Shape 19"/>
          <p:cNvSpPr/>
          <p:nvPr/>
        </p:nvSpPr>
        <p:spPr>
          <a:xfrm>
            <a:off x="6473952" y="1965960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48" y="2048256"/>
            <a:ext cx="182880" cy="1828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949440" y="1847088"/>
            <a:ext cx="4434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BİZİM ÇÖZÜMÜMÜZ</a:t>
            </a:r>
            <a:endParaRPr lang="en-US" sz="1250" dirty="0"/>
          </a:p>
        </p:txBody>
      </p:sp>
      <p:sp>
        <p:nvSpPr>
          <p:cNvPr id="29" name="Shape 21"/>
          <p:cNvSpPr/>
          <p:nvPr/>
        </p:nvSpPr>
        <p:spPr>
          <a:xfrm>
            <a:off x="6583680" y="2715768"/>
            <a:ext cx="274320" cy="274320"/>
          </a:xfrm>
          <a:prstGeom prst="ellipse">
            <a:avLst/>
          </a:prstGeom>
          <a:solidFill>
            <a:srgbClr val="EEF1FD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7688" y="2779776"/>
            <a:ext cx="146304" cy="14630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995160" y="2615184"/>
            <a:ext cx="4279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A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 + Pixel + Conversions API kurulumu ve tam dönüşüm takibi.</a:t>
            </a:r>
            <a:endParaRPr lang="en-US" sz="1250" dirty="0"/>
          </a:p>
        </p:txBody>
      </p:sp>
      <p:sp>
        <p:nvSpPr>
          <p:cNvPr id="32" name="Shape 23"/>
          <p:cNvSpPr/>
          <p:nvPr/>
        </p:nvSpPr>
        <p:spPr>
          <a:xfrm>
            <a:off x="6583680" y="3355848"/>
            <a:ext cx="274320" cy="274320"/>
          </a:xfrm>
          <a:prstGeom prst="ellipse">
            <a:avLst/>
          </a:prstGeom>
          <a:solidFill>
            <a:srgbClr val="EEF1FD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7688" y="3419856"/>
            <a:ext cx="146304" cy="14630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995160" y="3255264"/>
            <a:ext cx="4279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A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Sepet terk, hoş geldin ve geri kazanım e-posta/SMS otomasyonları.</a:t>
            </a:r>
            <a:endParaRPr lang="en-US" sz="1250" dirty="0"/>
          </a:p>
        </p:txBody>
      </p:sp>
      <p:sp>
        <p:nvSpPr>
          <p:cNvPr id="35" name="Shape 25"/>
          <p:cNvSpPr/>
          <p:nvPr/>
        </p:nvSpPr>
        <p:spPr>
          <a:xfrm>
            <a:off x="6583680" y="3995928"/>
            <a:ext cx="274320" cy="274320"/>
          </a:xfrm>
          <a:prstGeom prst="ellipse">
            <a:avLst/>
          </a:prstGeom>
          <a:solidFill>
            <a:srgbClr val="EEF1FD"/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7688" y="4059936"/>
            <a:ext cx="146304" cy="146304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6995160" y="3895344"/>
            <a:ext cx="4279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A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segmentasyonu, sadakat ve tekrar sipariş senaryoları.</a:t>
            </a:r>
            <a:endParaRPr lang="en-US" sz="1250" dirty="0"/>
          </a:p>
        </p:txBody>
      </p:sp>
      <p:sp>
        <p:nvSpPr>
          <p:cNvPr id="38" name="Shape 27"/>
          <p:cNvSpPr/>
          <p:nvPr/>
        </p:nvSpPr>
        <p:spPr>
          <a:xfrm>
            <a:off x="6583680" y="4636008"/>
            <a:ext cx="274320" cy="274320"/>
          </a:xfrm>
          <a:prstGeom prst="ellipse">
            <a:avLst/>
          </a:prstGeom>
          <a:solidFill>
            <a:srgbClr val="EEF1FD"/>
          </a:solidFill>
          <a:ln/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47688" y="4700016"/>
            <a:ext cx="146304" cy="146304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6995160" y="4535424"/>
            <a:ext cx="4279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A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+ blog SEO planı ve site içi teknik SEO düzeltmeleri.</a:t>
            </a:r>
            <a:endParaRPr lang="en-US" sz="1250" dirty="0"/>
          </a:p>
        </p:txBody>
      </p:sp>
      <p:sp>
        <p:nvSpPr>
          <p:cNvPr id="41" name="Shape 29"/>
          <p:cNvSpPr/>
          <p:nvPr/>
        </p:nvSpPr>
        <p:spPr>
          <a:xfrm>
            <a:off x="640080" y="544068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7A55"/>
          </a:solidFill>
          <a:ln/>
        </p:spPr>
      </p:sp>
      <p:sp>
        <p:nvSpPr>
          <p:cNvPr id="42" name="Shape 30"/>
          <p:cNvSpPr/>
          <p:nvPr/>
        </p:nvSpPr>
        <p:spPr>
          <a:xfrm>
            <a:off x="914400" y="5641848"/>
            <a:ext cx="475488" cy="475488"/>
          </a:xfrm>
          <a:prstGeom prst="ellipse">
            <a:avLst/>
          </a:prstGeom>
          <a:solidFill>
            <a:srgbClr val="2E9068"/>
          </a:solidFill>
          <a:ln/>
        </p:spPr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8027" y="5765475"/>
            <a:ext cx="228234" cy="228234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1600200" y="5440680"/>
            <a:ext cx="9784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spc="100" kern="0" dirty="0">
                <a:solidFill>
                  <a:srgbClr val="BFE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BEKLENEN ETKİ   </a:t>
            </a:r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 lira ölçülebilir hale gelir; tekrar satış ve organik trafik artar, reklam bağımlılığı azalır.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4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02 · REKLAM YÖNETİMİ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Reklam: Organik Güçlü, Performans Eksik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Instagram'da güçlü bir organik varlık var; ancak ölçeklenebilir performans reklamı kurgusu eksik.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847088"/>
            <a:ext cx="5440680" cy="3401568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47088"/>
            <a:ext cx="5440680" cy="585216"/>
          </a:xfrm>
          <a:prstGeom prst="roundRect">
            <a:avLst>
              <a:gd name="adj" fmla="val 14063"/>
            </a:avLst>
          </a:prstGeom>
          <a:solidFill>
            <a:srgbClr val="C0392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39696"/>
            <a:ext cx="5440680" cy="2926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965960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048256"/>
            <a:ext cx="182880" cy="182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98448" y="1847088"/>
            <a:ext cx="4617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TESPİT EDİLEN EKSİK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32688" y="2715768"/>
            <a:ext cx="274320" cy="274320"/>
          </a:xfrm>
          <a:prstGeom prst="ellipse">
            <a:avLst/>
          </a:prstGeom>
          <a:solidFill>
            <a:srgbClr val="FBEBE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2779776"/>
            <a:ext cx="146304" cy="1463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44168" y="2615184"/>
            <a:ext cx="4462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A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Performans reklamı yetersiz: satın alma-odaklı, dinamik katalog reklam yapısı kurulu değil.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932688" y="3355848"/>
            <a:ext cx="274320" cy="274320"/>
          </a:xfrm>
          <a:prstGeom prst="ellipse">
            <a:avLst/>
          </a:prstGeom>
          <a:solidFill>
            <a:srgbClr val="FBEBE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3419856"/>
            <a:ext cx="146304" cy="14630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44168" y="3255264"/>
            <a:ext cx="4462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A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katalog / dinamik ürün reklamları eksik: gezilen ürünler otomatik gösterilemiyor.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932688" y="3995928"/>
            <a:ext cx="274320" cy="274320"/>
          </a:xfrm>
          <a:prstGeom prst="ellipse">
            <a:avLst/>
          </a:prstGeom>
          <a:solidFill>
            <a:srgbClr val="FBEBE9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4059936"/>
            <a:ext cx="146304" cy="14630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44168" y="3895344"/>
            <a:ext cx="4462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A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(Arama, Shopping, PMax) kullanılmıyor: satın alma niyetli trafik kaçıyor.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932688" y="4636008"/>
            <a:ext cx="274320" cy="274320"/>
          </a:xfrm>
          <a:prstGeom prst="ellipse">
            <a:avLst/>
          </a:prstGeom>
          <a:solidFill>
            <a:srgbClr val="FBEBE9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" y="4700016"/>
            <a:ext cx="146304" cy="14630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44168" y="4535424"/>
            <a:ext cx="4462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A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Remarketing yok: siteyi gezip almayanlar ve eski müşteriler geri getirilmiyor.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6291072" y="1847088"/>
            <a:ext cx="5257800" cy="3401568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291072" y="1847088"/>
            <a:ext cx="5257800" cy="585216"/>
          </a:xfrm>
          <a:prstGeom prst="roundRect">
            <a:avLst>
              <a:gd name="adj" fmla="val 14063"/>
            </a:avLst>
          </a:prstGeom>
          <a:solidFill>
            <a:srgbClr val="1E40D6"/>
          </a:solidFill>
          <a:ln/>
        </p:spPr>
      </p:sp>
      <p:sp>
        <p:nvSpPr>
          <p:cNvPr id="25" name="Shape 18"/>
          <p:cNvSpPr/>
          <p:nvPr/>
        </p:nvSpPr>
        <p:spPr>
          <a:xfrm>
            <a:off x="6291072" y="2139696"/>
            <a:ext cx="5257800" cy="292608"/>
          </a:xfrm>
          <a:prstGeom prst="rect">
            <a:avLst/>
          </a:prstGeom>
          <a:solidFill>
            <a:srgbClr val="1E40D6"/>
          </a:solidFill>
          <a:ln/>
        </p:spPr>
      </p:sp>
      <p:sp>
        <p:nvSpPr>
          <p:cNvPr id="26" name="Shape 19"/>
          <p:cNvSpPr/>
          <p:nvPr/>
        </p:nvSpPr>
        <p:spPr>
          <a:xfrm>
            <a:off x="6473952" y="1965960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48" y="2048256"/>
            <a:ext cx="182880" cy="1828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949440" y="1847088"/>
            <a:ext cx="4434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BİZİM ÇÖZÜMÜMÜZ</a:t>
            </a:r>
            <a:endParaRPr lang="en-US" sz="1250" dirty="0"/>
          </a:p>
        </p:txBody>
      </p:sp>
      <p:sp>
        <p:nvSpPr>
          <p:cNvPr id="29" name="Shape 21"/>
          <p:cNvSpPr/>
          <p:nvPr/>
        </p:nvSpPr>
        <p:spPr>
          <a:xfrm>
            <a:off x="6583680" y="2715768"/>
            <a:ext cx="274320" cy="274320"/>
          </a:xfrm>
          <a:prstGeom prst="ellipse">
            <a:avLst/>
          </a:prstGeom>
          <a:solidFill>
            <a:srgbClr val="EEF1FD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7688" y="2779776"/>
            <a:ext cx="146304" cy="14630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995160" y="2615184"/>
            <a:ext cx="4279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A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Satın alma-odaklı Meta kampanya yapısı + ürün katalog (dinamik) reklamları.</a:t>
            </a:r>
            <a:endParaRPr lang="en-US" sz="1250" dirty="0"/>
          </a:p>
        </p:txBody>
      </p:sp>
      <p:sp>
        <p:nvSpPr>
          <p:cNvPr id="32" name="Shape 23"/>
          <p:cNvSpPr/>
          <p:nvPr/>
        </p:nvSpPr>
        <p:spPr>
          <a:xfrm>
            <a:off x="6583680" y="3355848"/>
            <a:ext cx="274320" cy="274320"/>
          </a:xfrm>
          <a:prstGeom prst="ellipse">
            <a:avLst/>
          </a:prstGeom>
          <a:solidFill>
            <a:srgbClr val="EEF1FD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7688" y="3419856"/>
            <a:ext cx="146304" cy="14630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995160" y="3255264"/>
            <a:ext cx="4279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A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Arama / Shopping / PMax ile niyetli trafik yakalama.</a:t>
            </a:r>
            <a:endParaRPr lang="en-US" sz="1250" dirty="0"/>
          </a:p>
        </p:txBody>
      </p:sp>
      <p:sp>
        <p:nvSpPr>
          <p:cNvPr id="35" name="Shape 25"/>
          <p:cNvSpPr/>
          <p:nvPr/>
        </p:nvSpPr>
        <p:spPr>
          <a:xfrm>
            <a:off x="6583680" y="3995928"/>
            <a:ext cx="274320" cy="274320"/>
          </a:xfrm>
          <a:prstGeom prst="ellipse">
            <a:avLst/>
          </a:prstGeom>
          <a:solidFill>
            <a:srgbClr val="EEF1FD"/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7688" y="4059936"/>
            <a:ext cx="146304" cy="146304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6995160" y="3895344"/>
            <a:ext cx="4279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A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Remarketing ve müşteri geri kazanım kampanyaları.</a:t>
            </a:r>
            <a:endParaRPr lang="en-US" sz="1250" dirty="0"/>
          </a:p>
        </p:txBody>
      </p:sp>
      <p:sp>
        <p:nvSpPr>
          <p:cNvPr id="38" name="Shape 27"/>
          <p:cNvSpPr/>
          <p:nvPr/>
        </p:nvSpPr>
        <p:spPr>
          <a:xfrm>
            <a:off x="6583680" y="4636008"/>
            <a:ext cx="274320" cy="274320"/>
          </a:xfrm>
          <a:prstGeom prst="ellipse">
            <a:avLst/>
          </a:prstGeom>
          <a:solidFill>
            <a:srgbClr val="EEF1FD"/>
          </a:solidFill>
          <a:ln/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47688" y="4700016"/>
            <a:ext cx="146304" cy="146304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6995160" y="4535424"/>
            <a:ext cx="4279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A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ROAS hedefli bütçe yönetimi ve düzenli A/B kreatif testleri.</a:t>
            </a:r>
            <a:endParaRPr lang="en-US" sz="1250" dirty="0"/>
          </a:p>
        </p:txBody>
      </p:sp>
      <p:sp>
        <p:nvSpPr>
          <p:cNvPr id="41" name="Shape 29"/>
          <p:cNvSpPr/>
          <p:nvPr/>
        </p:nvSpPr>
        <p:spPr>
          <a:xfrm>
            <a:off x="640080" y="544068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7A55"/>
          </a:solidFill>
          <a:ln/>
        </p:spPr>
      </p:sp>
      <p:sp>
        <p:nvSpPr>
          <p:cNvPr id="42" name="Shape 30"/>
          <p:cNvSpPr/>
          <p:nvPr/>
        </p:nvSpPr>
        <p:spPr>
          <a:xfrm>
            <a:off x="914400" y="5641848"/>
            <a:ext cx="475488" cy="475488"/>
          </a:xfrm>
          <a:prstGeom prst="ellipse">
            <a:avLst/>
          </a:prstGeom>
          <a:solidFill>
            <a:srgbClr val="2E9068"/>
          </a:solidFill>
          <a:ln/>
        </p:spPr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8027" y="5765475"/>
            <a:ext cx="228234" cy="228234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1600200" y="5440680"/>
            <a:ext cx="9784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spc="100" kern="0" dirty="0">
                <a:solidFill>
                  <a:srgbClr val="BFE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BEKLENEN ETKİ   </a:t>
            </a:r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Ölçeklenebilir, ROAS hedefli satış; reklamdan gelen her ziyaretçi izlenir ve geri kazanılır.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4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03 · İÇERİK &amp; DÖNÜŞÜM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İçerik: Estetik Güçlü, Satışa Bağlı Değil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 dil çok iyi; fakat içerik reklamı besleyecek ve dönüşüm sağlayacak sisteme bağlı değil.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847088"/>
            <a:ext cx="5440680" cy="3401568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47088"/>
            <a:ext cx="5440680" cy="585216"/>
          </a:xfrm>
          <a:prstGeom prst="roundRect">
            <a:avLst>
              <a:gd name="adj" fmla="val 14063"/>
            </a:avLst>
          </a:prstGeom>
          <a:solidFill>
            <a:srgbClr val="C0392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39696"/>
            <a:ext cx="5440680" cy="2926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965960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048256"/>
            <a:ext cx="182880" cy="182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98448" y="1847088"/>
            <a:ext cx="4617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TESPİT EDİLEN EKSİK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32688" y="2715768"/>
            <a:ext cx="274320" cy="274320"/>
          </a:xfrm>
          <a:prstGeom prst="ellipse">
            <a:avLst/>
          </a:prstGeom>
          <a:solidFill>
            <a:srgbClr val="FBEBE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2779776"/>
            <a:ext cx="146304" cy="1463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44168" y="2615184"/>
            <a:ext cx="4462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A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 marka odaklı; kampanya, ürün ve dönüşüm çağrısına (CTA) yeterince bağlı değil.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932688" y="3355848"/>
            <a:ext cx="274320" cy="274320"/>
          </a:xfrm>
          <a:prstGeom prst="ellipse">
            <a:avLst/>
          </a:prstGeom>
          <a:solidFill>
            <a:srgbClr val="FBEBE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3419856"/>
            <a:ext cx="146304" cy="14630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44168" y="3255264"/>
            <a:ext cx="4462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A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Reklam için sürekli kreatif üretimi yok: reels/video/UGC varyasyonları olmadan reklamlar yorulur.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932688" y="3995928"/>
            <a:ext cx="274320" cy="274320"/>
          </a:xfrm>
          <a:prstGeom prst="ellipse">
            <a:avLst/>
          </a:prstGeom>
          <a:solidFill>
            <a:srgbClr val="FBEBE9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4059936"/>
            <a:ext cx="146304" cy="14630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44168" y="3895344"/>
            <a:ext cx="4462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A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Sosyal kanıt (UGC, yorum, 'sizden gelenler') sistematik toplanmıyor.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932688" y="4636008"/>
            <a:ext cx="274320" cy="274320"/>
          </a:xfrm>
          <a:prstGeom prst="ellipse">
            <a:avLst/>
          </a:prstGeom>
          <a:solidFill>
            <a:srgbClr val="FBEBE9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" y="4700016"/>
            <a:ext cx="146304" cy="14630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44168" y="4535424"/>
            <a:ext cx="4462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A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İçerik takvimi kampanya ve sezonlarla senkron çalışmıyor.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6291072" y="1847088"/>
            <a:ext cx="5257800" cy="3401568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291072" y="1847088"/>
            <a:ext cx="5257800" cy="585216"/>
          </a:xfrm>
          <a:prstGeom prst="roundRect">
            <a:avLst>
              <a:gd name="adj" fmla="val 14063"/>
            </a:avLst>
          </a:prstGeom>
          <a:solidFill>
            <a:srgbClr val="1E40D6"/>
          </a:solidFill>
          <a:ln/>
        </p:spPr>
      </p:sp>
      <p:sp>
        <p:nvSpPr>
          <p:cNvPr id="25" name="Shape 18"/>
          <p:cNvSpPr/>
          <p:nvPr/>
        </p:nvSpPr>
        <p:spPr>
          <a:xfrm>
            <a:off x="6291072" y="2139696"/>
            <a:ext cx="5257800" cy="292608"/>
          </a:xfrm>
          <a:prstGeom prst="rect">
            <a:avLst/>
          </a:prstGeom>
          <a:solidFill>
            <a:srgbClr val="1E40D6"/>
          </a:solidFill>
          <a:ln/>
        </p:spPr>
      </p:sp>
      <p:sp>
        <p:nvSpPr>
          <p:cNvPr id="26" name="Shape 19"/>
          <p:cNvSpPr/>
          <p:nvPr/>
        </p:nvSpPr>
        <p:spPr>
          <a:xfrm>
            <a:off x="6473952" y="1965960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48" y="2048256"/>
            <a:ext cx="182880" cy="1828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949440" y="1847088"/>
            <a:ext cx="4434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BİZİM ÇÖZÜMÜMÜZ</a:t>
            </a:r>
            <a:endParaRPr lang="en-US" sz="1250" dirty="0"/>
          </a:p>
        </p:txBody>
      </p:sp>
      <p:sp>
        <p:nvSpPr>
          <p:cNvPr id="29" name="Shape 21"/>
          <p:cNvSpPr/>
          <p:nvPr/>
        </p:nvSpPr>
        <p:spPr>
          <a:xfrm>
            <a:off x="6583680" y="2715768"/>
            <a:ext cx="274320" cy="274320"/>
          </a:xfrm>
          <a:prstGeom prst="ellipse">
            <a:avLst/>
          </a:prstGeom>
          <a:solidFill>
            <a:srgbClr val="EEF1FD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7688" y="2779776"/>
            <a:ext cx="146304" cy="14630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995160" y="2615184"/>
            <a:ext cx="4279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A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Dönüşüm odaklı içerik + kampanya senkronlu aylık içerik takvimi.</a:t>
            </a:r>
            <a:endParaRPr lang="en-US" sz="1250" dirty="0"/>
          </a:p>
        </p:txBody>
      </p:sp>
      <p:sp>
        <p:nvSpPr>
          <p:cNvPr id="32" name="Shape 23"/>
          <p:cNvSpPr/>
          <p:nvPr/>
        </p:nvSpPr>
        <p:spPr>
          <a:xfrm>
            <a:off x="6583680" y="3355848"/>
            <a:ext cx="274320" cy="274320"/>
          </a:xfrm>
          <a:prstGeom prst="ellipse">
            <a:avLst/>
          </a:prstGeom>
          <a:solidFill>
            <a:srgbClr val="EEF1FD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7688" y="3419856"/>
            <a:ext cx="146304" cy="14630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995160" y="3255264"/>
            <a:ext cx="4279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A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Reklam kreatif deposu: düzenli reels/video, UGC ve A/B test varyasyonları.</a:t>
            </a:r>
            <a:endParaRPr lang="en-US" sz="1250" dirty="0"/>
          </a:p>
        </p:txBody>
      </p:sp>
      <p:sp>
        <p:nvSpPr>
          <p:cNvPr id="35" name="Shape 25"/>
          <p:cNvSpPr/>
          <p:nvPr/>
        </p:nvSpPr>
        <p:spPr>
          <a:xfrm>
            <a:off x="6583680" y="3995928"/>
            <a:ext cx="274320" cy="274320"/>
          </a:xfrm>
          <a:prstGeom prst="ellipse">
            <a:avLst/>
          </a:prstGeom>
          <a:solidFill>
            <a:srgbClr val="EEF1FD"/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7688" y="4059936"/>
            <a:ext cx="146304" cy="146304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6995160" y="3895344"/>
            <a:ext cx="4279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A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Sistematik UGC toplama ve influencer iş birliği programı.</a:t>
            </a:r>
            <a:endParaRPr lang="en-US" sz="1250" dirty="0"/>
          </a:p>
        </p:txBody>
      </p:sp>
      <p:sp>
        <p:nvSpPr>
          <p:cNvPr id="38" name="Shape 27"/>
          <p:cNvSpPr/>
          <p:nvPr/>
        </p:nvSpPr>
        <p:spPr>
          <a:xfrm>
            <a:off x="6583680" y="4636008"/>
            <a:ext cx="274320" cy="274320"/>
          </a:xfrm>
          <a:prstGeom prst="ellipse">
            <a:avLst/>
          </a:prstGeom>
          <a:solidFill>
            <a:srgbClr val="EEF1FD"/>
          </a:solidFill>
          <a:ln/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47688" y="4700016"/>
            <a:ext cx="146304" cy="146304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6995160" y="4535424"/>
            <a:ext cx="4279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A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fotoğraf/video çekim planı ve marka içerik serileri.</a:t>
            </a:r>
            <a:endParaRPr lang="en-US" sz="1250" dirty="0"/>
          </a:p>
        </p:txBody>
      </p:sp>
      <p:sp>
        <p:nvSpPr>
          <p:cNvPr id="41" name="Shape 29"/>
          <p:cNvSpPr/>
          <p:nvPr/>
        </p:nvSpPr>
        <p:spPr>
          <a:xfrm>
            <a:off x="640080" y="544068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7A55"/>
          </a:solidFill>
          <a:ln/>
        </p:spPr>
      </p:sp>
      <p:sp>
        <p:nvSpPr>
          <p:cNvPr id="42" name="Shape 30"/>
          <p:cNvSpPr/>
          <p:nvPr/>
        </p:nvSpPr>
        <p:spPr>
          <a:xfrm>
            <a:off x="914400" y="5641848"/>
            <a:ext cx="475488" cy="475488"/>
          </a:xfrm>
          <a:prstGeom prst="ellipse">
            <a:avLst/>
          </a:prstGeom>
          <a:solidFill>
            <a:srgbClr val="2E9068"/>
          </a:solidFill>
          <a:ln/>
        </p:spPr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8027" y="5765475"/>
            <a:ext cx="228234" cy="228234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1600200" y="5440680"/>
            <a:ext cx="9784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spc="100" kern="0" dirty="0">
                <a:solidFill>
                  <a:srgbClr val="BFE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BEKLENEN ETKİ   </a:t>
            </a:r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Taze kreatifle reklam performansı artar; güven ve organik erişim büyür, içerik doğrudan satışa hizmet eder.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4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ALAN 04 · TİCİMAX ALTYAPI &amp; TEKNİK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100" b="1" dirty="0">
                <a:solidFill>
                  <a:srgbClr val="1A1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Ticimax: Trafiği Satışa Çeviren Katman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Reklam ve içerik trafiği getirir; ancak altyapı optimize değilse bu trafik siparişe dönmez.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1847088"/>
            <a:ext cx="5440680" cy="3401568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847088"/>
            <a:ext cx="5440680" cy="585216"/>
          </a:xfrm>
          <a:prstGeom prst="roundRect">
            <a:avLst>
              <a:gd name="adj" fmla="val 14063"/>
            </a:avLst>
          </a:prstGeom>
          <a:solidFill>
            <a:srgbClr val="C0392B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139696"/>
            <a:ext cx="5440680" cy="2926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8" name="Shape 6"/>
          <p:cNvSpPr/>
          <p:nvPr/>
        </p:nvSpPr>
        <p:spPr>
          <a:xfrm>
            <a:off x="822960" y="1965960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256" y="2048256"/>
            <a:ext cx="182880" cy="1828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298448" y="1847088"/>
            <a:ext cx="4617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TESPİT EDİLEN EKSİK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932688" y="2715768"/>
            <a:ext cx="274320" cy="274320"/>
          </a:xfrm>
          <a:prstGeom prst="ellipse">
            <a:avLst/>
          </a:prstGeom>
          <a:solidFill>
            <a:srgbClr val="FBEBE9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6696" y="2779776"/>
            <a:ext cx="146304" cy="1463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44168" y="2615184"/>
            <a:ext cx="4462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A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hızı &amp; görsel optimizasyonu: yavaş sayfalar dönüşümü ve SEO'yu düşürür.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932688" y="3355848"/>
            <a:ext cx="274320" cy="274320"/>
          </a:xfrm>
          <a:prstGeom prst="ellipse">
            <a:avLst/>
          </a:prstGeom>
          <a:solidFill>
            <a:srgbClr val="FBEBE9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696" y="3419856"/>
            <a:ext cx="146304" cy="14630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344168" y="3255264"/>
            <a:ext cx="4462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A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sayfası / sepet / ödeme akışı dönüşüme göre optimize değil (güven unsuru, açıklama, cross-sell).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932688" y="3995928"/>
            <a:ext cx="274320" cy="274320"/>
          </a:xfrm>
          <a:prstGeom prst="ellipse">
            <a:avLst/>
          </a:prstGeom>
          <a:solidFill>
            <a:srgbClr val="FBEBE9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6696" y="4059936"/>
            <a:ext cx="146304" cy="14630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44168" y="3895344"/>
            <a:ext cx="4462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A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Entegrasyon eksikleri: Meta katalog, GA4, Pixel/CAPI, e-posta/SMS ve pazaryeri bağlantıları.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932688" y="4636008"/>
            <a:ext cx="274320" cy="274320"/>
          </a:xfrm>
          <a:prstGeom prst="ellipse">
            <a:avLst/>
          </a:prstGeom>
          <a:solidFill>
            <a:srgbClr val="FBEBE9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6696" y="4700016"/>
            <a:ext cx="146304" cy="146304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344168" y="4535424"/>
            <a:ext cx="44622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A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içi SEO eksik: meta başlık/açıklama, URL, schema ve sitemap ayarları tamamlanmamış.</a:t>
            </a:r>
            <a:endParaRPr lang="en-US" sz="1250" dirty="0"/>
          </a:p>
        </p:txBody>
      </p:sp>
      <p:sp>
        <p:nvSpPr>
          <p:cNvPr id="23" name="Shape 16"/>
          <p:cNvSpPr/>
          <p:nvPr/>
        </p:nvSpPr>
        <p:spPr>
          <a:xfrm>
            <a:off x="6291072" y="1847088"/>
            <a:ext cx="5257800" cy="3401568"/>
          </a:xfrm>
          <a:prstGeom prst="roundRect">
            <a:avLst>
              <a:gd name="adj" fmla="val 2688"/>
            </a:avLst>
          </a:prstGeom>
          <a:solidFill>
            <a:srgbClr val="FFFFFF"/>
          </a:solidFill>
          <a:ln w="12700">
            <a:solidFill>
              <a:srgbClr val="E3DED2"/>
            </a:solidFill>
            <a:prstDash val="solid"/>
          </a:ln>
        </p:spPr>
      </p:sp>
      <p:sp>
        <p:nvSpPr>
          <p:cNvPr id="24" name="Shape 17"/>
          <p:cNvSpPr/>
          <p:nvPr/>
        </p:nvSpPr>
        <p:spPr>
          <a:xfrm>
            <a:off x="6291072" y="1847088"/>
            <a:ext cx="5257800" cy="585216"/>
          </a:xfrm>
          <a:prstGeom prst="roundRect">
            <a:avLst>
              <a:gd name="adj" fmla="val 14063"/>
            </a:avLst>
          </a:prstGeom>
          <a:solidFill>
            <a:srgbClr val="1E40D6"/>
          </a:solidFill>
          <a:ln/>
        </p:spPr>
      </p:sp>
      <p:sp>
        <p:nvSpPr>
          <p:cNvPr id="25" name="Shape 18"/>
          <p:cNvSpPr/>
          <p:nvPr/>
        </p:nvSpPr>
        <p:spPr>
          <a:xfrm>
            <a:off x="6291072" y="2139696"/>
            <a:ext cx="5257800" cy="292608"/>
          </a:xfrm>
          <a:prstGeom prst="rect">
            <a:avLst/>
          </a:prstGeom>
          <a:solidFill>
            <a:srgbClr val="1E40D6"/>
          </a:solidFill>
          <a:ln/>
        </p:spPr>
      </p:sp>
      <p:sp>
        <p:nvSpPr>
          <p:cNvPr id="26" name="Shape 19"/>
          <p:cNvSpPr/>
          <p:nvPr/>
        </p:nvSpPr>
        <p:spPr>
          <a:xfrm>
            <a:off x="6473952" y="1965960"/>
            <a:ext cx="347472" cy="347472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6248" y="2048256"/>
            <a:ext cx="182880" cy="18288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949440" y="1847088"/>
            <a:ext cx="443484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BİZİM ÇÖZÜMÜMÜZ</a:t>
            </a:r>
            <a:endParaRPr lang="en-US" sz="1250" dirty="0"/>
          </a:p>
        </p:txBody>
      </p:sp>
      <p:sp>
        <p:nvSpPr>
          <p:cNvPr id="29" name="Shape 21"/>
          <p:cNvSpPr/>
          <p:nvPr/>
        </p:nvSpPr>
        <p:spPr>
          <a:xfrm>
            <a:off x="6583680" y="2715768"/>
            <a:ext cx="274320" cy="274320"/>
          </a:xfrm>
          <a:prstGeom prst="ellipse">
            <a:avLst/>
          </a:prstGeom>
          <a:solidFill>
            <a:srgbClr val="EEF1FD"/>
          </a:solidFill>
          <a:ln/>
        </p:spPr>
      </p:sp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47688" y="2779776"/>
            <a:ext cx="146304" cy="146304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6995160" y="2615184"/>
            <a:ext cx="4279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A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Görsel optimizasyonu ve sayfa hızı iyileştirmeleri.</a:t>
            </a:r>
            <a:endParaRPr lang="en-US" sz="1250" dirty="0"/>
          </a:p>
        </p:txBody>
      </p:sp>
      <p:sp>
        <p:nvSpPr>
          <p:cNvPr id="32" name="Shape 23"/>
          <p:cNvSpPr/>
          <p:nvPr/>
        </p:nvSpPr>
        <p:spPr>
          <a:xfrm>
            <a:off x="6583680" y="3355848"/>
            <a:ext cx="274320" cy="274320"/>
          </a:xfrm>
          <a:prstGeom prst="ellipse">
            <a:avLst/>
          </a:prstGeom>
          <a:solidFill>
            <a:srgbClr val="EEF1FD"/>
          </a:solidFill>
          <a:ln/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47688" y="3419856"/>
            <a:ext cx="146304" cy="14630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995160" y="3255264"/>
            <a:ext cx="4279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A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sayfası, sepet ve ödeme akışı için dönüşüm optimizasyonu (CRO).</a:t>
            </a:r>
            <a:endParaRPr lang="en-US" sz="1250" dirty="0"/>
          </a:p>
        </p:txBody>
      </p:sp>
      <p:sp>
        <p:nvSpPr>
          <p:cNvPr id="35" name="Shape 25"/>
          <p:cNvSpPr/>
          <p:nvPr/>
        </p:nvSpPr>
        <p:spPr>
          <a:xfrm>
            <a:off x="6583680" y="3995928"/>
            <a:ext cx="274320" cy="274320"/>
          </a:xfrm>
          <a:prstGeom prst="ellipse">
            <a:avLst/>
          </a:prstGeom>
          <a:solidFill>
            <a:srgbClr val="EEF1FD"/>
          </a:solidFill>
          <a:ln/>
        </p:spPr>
      </p:sp>
      <p:pic>
        <p:nvPicPr>
          <p:cNvPr id="3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7688" y="4059936"/>
            <a:ext cx="146304" cy="146304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6995160" y="3895344"/>
            <a:ext cx="4279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A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Ticimax paneli üzerinden tüm entegrasyonların kurulumu ve yönetimi.</a:t>
            </a:r>
            <a:endParaRPr lang="en-US" sz="1250" dirty="0"/>
          </a:p>
        </p:txBody>
      </p:sp>
      <p:sp>
        <p:nvSpPr>
          <p:cNvPr id="38" name="Shape 27"/>
          <p:cNvSpPr/>
          <p:nvPr/>
        </p:nvSpPr>
        <p:spPr>
          <a:xfrm>
            <a:off x="6583680" y="4636008"/>
            <a:ext cx="274320" cy="274320"/>
          </a:xfrm>
          <a:prstGeom prst="ellipse">
            <a:avLst/>
          </a:prstGeom>
          <a:solidFill>
            <a:srgbClr val="EEF1FD"/>
          </a:solidFill>
          <a:ln/>
        </p:spPr>
      </p:sp>
      <p:pic>
        <p:nvPicPr>
          <p:cNvPr id="3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647688" y="4700016"/>
            <a:ext cx="146304" cy="146304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6995160" y="4535424"/>
            <a:ext cx="427939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50" dirty="0">
                <a:solidFill>
                  <a:srgbClr val="1A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 içi teknik SEO düzenlemeleri ve düzenli bakım/güncelleme.</a:t>
            </a:r>
            <a:endParaRPr lang="en-US" sz="1250" dirty="0"/>
          </a:p>
        </p:txBody>
      </p:sp>
      <p:sp>
        <p:nvSpPr>
          <p:cNvPr id="41" name="Shape 29"/>
          <p:cNvSpPr/>
          <p:nvPr/>
        </p:nvSpPr>
        <p:spPr>
          <a:xfrm>
            <a:off x="640080" y="5440680"/>
            <a:ext cx="10908792" cy="868680"/>
          </a:xfrm>
          <a:prstGeom prst="roundRect">
            <a:avLst>
              <a:gd name="adj" fmla="val 10526"/>
            </a:avLst>
          </a:prstGeom>
          <a:solidFill>
            <a:srgbClr val="1F7A55"/>
          </a:solidFill>
          <a:ln/>
        </p:spPr>
      </p:sp>
      <p:sp>
        <p:nvSpPr>
          <p:cNvPr id="42" name="Shape 30"/>
          <p:cNvSpPr/>
          <p:nvPr/>
        </p:nvSpPr>
        <p:spPr>
          <a:xfrm>
            <a:off x="914400" y="5641848"/>
            <a:ext cx="475488" cy="475488"/>
          </a:xfrm>
          <a:prstGeom prst="ellipse">
            <a:avLst/>
          </a:prstGeom>
          <a:solidFill>
            <a:srgbClr val="2E9068"/>
          </a:solidFill>
          <a:ln/>
        </p:spPr>
      </p:sp>
      <p:pic>
        <p:nvPicPr>
          <p:cNvPr id="43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8027" y="5765475"/>
            <a:ext cx="228234" cy="228234"/>
          </a:xfrm>
          <a:prstGeom prst="rect">
            <a:avLst/>
          </a:prstGeom>
        </p:spPr>
      </p:pic>
      <p:sp>
        <p:nvSpPr>
          <p:cNvPr id="44" name="Text 31"/>
          <p:cNvSpPr/>
          <p:nvPr/>
        </p:nvSpPr>
        <p:spPr>
          <a:xfrm>
            <a:off x="1600200" y="5440680"/>
            <a:ext cx="97840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150" b="1" spc="100" kern="0" dirty="0">
                <a:solidFill>
                  <a:srgbClr val="BFEB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BEKLENEN ETKİ   </a:t>
            </a:r>
            <a:pPr indent="0" marL="0">
              <a:lnSpc>
                <a:spcPct val="98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Aynı trafikten daha çok sipariş; reklam ve içerik trafiği boşa gitmeden satışa dönüşür.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4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ÖNCELİK · HIZLI KAZANIMLAR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İlk 30 Günde Hızlı Kazanımlar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Düşük eforla en yüksek etkiyi getiren, hemen başlanabilecek adımlar — güveni erken kazanmak için.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2103120" cy="2514600"/>
          </a:xfrm>
          <a:prstGeom prst="roundRect">
            <a:avLst>
              <a:gd name="adj" fmla="val 4348"/>
            </a:avLst>
          </a:prstGeom>
          <a:solidFill>
            <a:srgbClr val="F5F1E8"/>
          </a:solidFill>
          <a:ln w="12700">
            <a:solidFill>
              <a:srgbClr val="E3DED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2240280"/>
            <a:ext cx="2103120" cy="621792"/>
          </a:xfrm>
          <a:prstGeom prst="roundRect">
            <a:avLst>
              <a:gd name="adj" fmla="val 14706"/>
            </a:avLst>
          </a:prstGeom>
          <a:solidFill>
            <a:srgbClr val="1E40D6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551176"/>
            <a:ext cx="2103120" cy="310896"/>
          </a:xfrm>
          <a:prstGeom prst="rect">
            <a:avLst/>
          </a:prstGeom>
          <a:solidFill>
            <a:srgbClr val="1E40D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31343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2084832" y="3063240"/>
            <a:ext cx="566928" cy="566928"/>
          </a:xfrm>
          <a:prstGeom prst="ellipse">
            <a:avLst/>
          </a:prstGeom>
          <a:solidFill>
            <a:srgbClr val="E7EBFB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32233" y="3210641"/>
            <a:ext cx="272125" cy="272125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841248" y="3703320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Ölçümü Aç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841248" y="414223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 + Pixel + CAPI kurulumu; tüm siparişlerin izlenmesi.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843784" y="2240280"/>
            <a:ext cx="2103120" cy="2514600"/>
          </a:xfrm>
          <a:prstGeom prst="roundRect">
            <a:avLst>
              <a:gd name="adj" fmla="val 4348"/>
            </a:avLst>
          </a:prstGeom>
          <a:solidFill>
            <a:srgbClr val="F5F1E8"/>
          </a:solidFill>
          <a:ln w="12700">
            <a:solidFill>
              <a:srgbClr val="E3DED2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843784" y="2240280"/>
            <a:ext cx="2103120" cy="621792"/>
          </a:xfrm>
          <a:prstGeom prst="roundRect">
            <a:avLst>
              <a:gd name="adj" fmla="val 14706"/>
            </a:avLst>
          </a:prstGeom>
          <a:solidFill>
            <a:srgbClr val="1E40D6"/>
          </a:solidFill>
          <a:ln/>
        </p:spPr>
      </p:sp>
      <p:sp>
        <p:nvSpPr>
          <p:cNvPr id="15" name="Shape 12"/>
          <p:cNvSpPr/>
          <p:nvPr/>
        </p:nvSpPr>
        <p:spPr>
          <a:xfrm>
            <a:off x="2843784" y="2551176"/>
            <a:ext cx="2103120" cy="310896"/>
          </a:xfrm>
          <a:prstGeom prst="rect">
            <a:avLst/>
          </a:prstGeom>
          <a:solidFill>
            <a:srgbClr val="1E40D6"/>
          </a:solidFill>
          <a:ln/>
        </p:spPr>
      </p:sp>
      <p:sp>
        <p:nvSpPr>
          <p:cNvPr id="16" name="Text 13"/>
          <p:cNvSpPr/>
          <p:nvPr/>
        </p:nvSpPr>
        <p:spPr>
          <a:xfrm>
            <a:off x="3026664" y="231343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17" name="Shape 14"/>
          <p:cNvSpPr/>
          <p:nvPr/>
        </p:nvSpPr>
        <p:spPr>
          <a:xfrm>
            <a:off x="4288536" y="3063240"/>
            <a:ext cx="566928" cy="566928"/>
          </a:xfrm>
          <a:prstGeom prst="ellipse">
            <a:avLst/>
          </a:prstGeom>
          <a:solidFill>
            <a:srgbClr val="E7EBFB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5937" y="3210641"/>
            <a:ext cx="272125" cy="272125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044952" y="3703320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Katalog + Dinamik Reklam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3044952" y="414223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katalog kurulup dinamik ürün reklamlarının başlatılması.</a:t>
            </a:r>
            <a:endParaRPr lang="en-US" sz="1050" dirty="0"/>
          </a:p>
        </p:txBody>
      </p:sp>
      <p:sp>
        <p:nvSpPr>
          <p:cNvPr id="21" name="Shape 17"/>
          <p:cNvSpPr/>
          <p:nvPr/>
        </p:nvSpPr>
        <p:spPr>
          <a:xfrm>
            <a:off x="5047488" y="2240280"/>
            <a:ext cx="2103120" cy="2514600"/>
          </a:xfrm>
          <a:prstGeom prst="roundRect">
            <a:avLst>
              <a:gd name="adj" fmla="val 4348"/>
            </a:avLst>
          </a:prstGeom>
          <a:solidFill>
            <a:srgbClr val="F5F1E8"/>
          </a:solidFill>
          <a:ln w="12700">
            <a:solidFill>
              <a:srgbClr val="E3DED2"/>
            </a:solidFill>
            <a:prstDash val="solid"/>
          </a:ln>
        </p:spPr>
      </p:sp>
      <p:sp>
        <p:nvSpPr>
          <p:cNvPr id="22" name="Shape 18"/>
          <p:cNvSpPr/>
          <p:nvPr/>
        </p:nvSpPr>
        <p:spPr>
          <a:xfrm>
            <a:off x="5047488" y="2240280"/>
            <a:ext cx="2103120" cy="621792"/>
          </a:xfrm>
          <a:prstGeom prst="roundRect">
            <a:avLst>
              <a:gd name="adj" fmla="val 14706"/>
            </a:avLst>
          </a:prstGeom>
          <a:solidFill>
            <a:srgbClr val="1E40D6"/>
          </a:solidFill>
          <a:ln/>
        </p:spPr>
      </p:sp>
      <p:sp>
        <p:nvSpPr>
          <p:cNvPr id="23" name="Shape 19"/>
          <p:cNvSpPr/>
          <p:nvPr/>
        </p:nvSpPr>
        <p:spPr>
          <a:xfrm>
            <a:off x="5047488" y="2551176"/>
            <a:ext cx="2103120" cy="310896"/>
          </a:xfrm>
          <a:prstGeom prst="rect">
            <a:avLst/>
          </a:prstGeom>
          <a:solidFill>
            <a:srgbClr val="1E40D6"/>
          </a:solidFill>
          <a:ln/>
        </p:spPr>
      </p:sp>
      <p:sp>
        <p:nvSpPr>
          <p:cNvPr id="24" name="Text 20"/>
          <p:cNvSpPr/>
          <p:nvPr/>
        </p:nvSpPr>
        <p:spPr>
          <a:xfrm>
            <a:off x="5230368" y="231343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25" name="Shape 21"/>
          <p:cNvSpPr/>
          <p:nvPr/>
        </p:nvSpPr>
        <p:spPr>
          <a:xfrm>
            <a:off x="6492240" y="3063240"/>
            <a:ext cx="566928" cy="566928"/>
          </a:xfrm>
          <a:prstGeom prst="ellipse">
            <a:avLst/>
          </a:prstGeom>
          <a:solidFill>
            <a:srgbClr val="E7EBFB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9641" y="3210641"/>
            <a:ext cx="272125" cy="272125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5248656" y="3703320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Sepet Terk Akışı</a:t>
            </a:r>
            <a:endParaRPr lang="en-US" sz="1400" dirty="0"/>
          </a:p>
        </p:txBody>
      </p:sp>
      <p:sp>
        <p:nvSpPr>
          <p:cNvPr id="28" name="Text 23"/>
          <p:cNvSpPr/>
          <p:nvPr/>
        </p:nvSpPr>
        <p:spPr>
          <a:xfrm>
            <a:off x="5248656" y="414223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Sepette bırakılan siparişler için otomatik e-posta/SMS.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7251192" y="2240280"/>
            <a:ext cx="2103120" cy="2514600"/>
          </a:xfrm>
          <a:prstGeom prst="roundRect">
            <a:avLst>
              <a:gd name="adj" fmla="val 4348"/>
            </a:avLst>
          </a:prstGeom>
          <a:solidFill>
            <a:srgbClr val="F5F1E8"/>
          </a:solidFill>
          <a:ln w="12700">
            <a:solidFill>
              <a:srgbClr val="E3DED2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7251192" y="2240280"/>
            <a:ext cx="2103120" cy="621792"/>
          </a:xfrm>
          <a:prstGeom prst="roundRect">
            <a:avLst>
              <a:gd name="adj" fmla="val 14706"/>
            </a:avLst>
          </a:prstGeom>
          <a:solidFill>
            <a:srgbClr val="1E40D6"/>
          </a:solidFill>
          <a:ln/>
        </p:spPr>
      </p:sp>
      <p:sp>
        <p:nvSpPr>
          <p:cNvPr id="31" name="Shape 26"/>
          <p:cNvSpPr/>
          <p:nvPr/>
        </p:nvSpPr>
        <p:spPr>
          <a:xfrm>
            <a:off x="7251192" y="2551176"/>
            <a:ext cx="2103120" cy="310896"/>
          </a:xfrm>
          <a:prstGeom prst="rect">
            <a:avLst/>
          </a:prstGeom>
          <a:solidFill>
            <a:srgbClr val="1E40D6"/>
          </a:solidFill>
          <a:ln/>
        </p:spPr>
      </p:sp>
      <p:sp>
        <p:nvSpPr>
          <p:cNvPr id="32" name="Text 27"/>
          <p:cNvSpPr/>
          <p:nvPr/>
        </p:nvSpPr>
        <p:spPr>
          <a:xfrm>
            <a:off x="7434072" y="231343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33" name="Shape 28"/>
          <p:cNvSpPr/>
          <p:nvPr/>
        </p:nvSpPr>
        <p:spPr>
          <a:xfrm>
            <a:off x="8695944" y="3063240"/>
            <a:ext cx="566928" cy="566928"/>
          </a:xfrm>
          <a:prstGeom prst="ellipse">
            <a:avLst/>
          </a:prstGeom>
          <a:solidFill>
            <a:srgbClr val="E7EBFB"/>
          </a:solidFill>
          <a:ln/>
        </p:spPr>
      </p:sp>
      <p:pic>
        <p:nvPicPr>
          <p:cNvPr id="3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3345" y="3210641"/>
            <a:ext cx="272125" cy="272125"/>
          </a:xfrm>
          <a:prstGeom prst="rect">
            <a:avLst/>
          </a:prstGeom>
        </p:spPr>
      </p:pic>
      <p:sp>
        <p:nvSpPr>
          <p:cNvPr id="35" name="Text 29"/>
          <p:cNvSpPr/>
          <p:nvPr/>
        </p:nvSpPr>
        <p:spPr>
          <a:xfrm>
            <a:off x="7452360" y="3703320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Remarketing Başlat</a:t>
            </a:r>
            <a:endParaRPr lang="en-US" sz="1400" dirty="0"/>
          </a:p>
        </p:txBody>
      </p:sp>
      <p:sp>
        <p:nvSpPr>
          <p:cNvPr id="36" name="Text 30"/>
          <p:cNvSpPr/>
          <p:nvPr/>
        </p:nvSpPr>
        <p:spPr>
          <a:xfrm>
            <a:off x="7452360" y="414223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Siteyi gezenlere ve eski müşterilere geri kazanım reklamı.</a:t>
            </a:r>
            <a:endParaRPr lang="en-US" sz="1050" dirty="0"/>
          </a:p>
        </p:txBody>
      </p:sp>
      <p:sp>
        <p:nvSpPr>
          <p:cNvPr id="37" name="Shape 31"/>
          <p:cNvSpPr/>
          <p:nvPr/>
        </p:nvSpPr>
        <p:spPr>
          <a:xfrm>
            <a:off x="9454896" y="2240280"/>
            <a:ext cx="2103120" cy="2514600"/>
          </a:xfrm>
          <a:prstGeom prst="roundRect">
            <a:avLst>
              <a:gd name="adj" fmla="val 4348"/>
            </a:avLst>
          </a:prstGeom>
          <a:solidFill>
            <a:srgbClr val="F5F1E8"/>
          </a:solidFill>
          <a:ln w="12700">
            <a:solidFill>
              <a:srgbClr val="E3DED2"/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9454896" y="2240280"/>
            <a:ext cx="2103120" cy="621792"/>
          </a:xfrm>
          <a:prstGeom prst="roundRect">
            <a:avLst>
              <a:gd name="adj" fmla="val 14706"/>
            </a:avLst>
          </a:prstGeom>
          <a:solidFill>
            <a:srgbClr val="1E40D6"/>
          </a:solidFill>
          <a:ln/>
        </p:spPr>
      </p:sp>
      <p:sp>
        <p:nvSpPr>
          <p:cNvPr id="39" name="Shape 33"/>
          <p:cNvSpPr/>
          <p:nvPr/>
        </p:nvSpPr>
        <p:spPr>
          <a:xfrm>
            <a:off x="9454896" y="2551176"/>
            <a:ext cx="2103120" cy="310896"/>
          </a:xfrm>
          <a:prstGeom prst="rect">
            <a:avLst/>
          </a:prstGeom>
          <a:solidFill>
            <a:srgbClr val="1E40D6"/>
          </a:solidFill>
          <a:ln/>
        </p:spPr>
      </p:sp>
      <p:sp>
        <p:nvSpPr>
          <p:cNvPr id="40" name="Text 34"/>
          <p:cNvSpPr/>
          <p:nvPr/>
        </p:nvSpPr>
        <p:spPr>
          <a:xfrm>
            <a:off x="9637776" y="2313432"/>
            <a:ext cx="914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000" dirty="0"/>
          </a:p>
        </p:txBody>
      </p:sp>
      <p:sp>
        <p:nvSpPr>
          <p:cNvPr id="41" name="Shape 35"/>
          <p:cNvSpPr/>
          <p:nvPr/>
        </p:nvSpPr>
        <p:spPr>
          <a:xfrm>
            <a:off x="10899648" y="3063240"/>
            <a:ext cx="566928" cy="566928"/>
          </a:xfrm>
          <a:prstGeom prst="ellipse">
            <a:avLst/>
          </a:prstGeom>
          <a:solidFill>
            <a:srgbClr val="E7EBFB"/>
          </a:solidFill>
          <a:ln/>
        </p:spPr>
      </p:sp>
      <p:pic>
        <p:nvPicPr>
          <p:cNvPr id="4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47049" y="3210641"/>
            <a:ext cx="272125" cy="272125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9656064" y="3703320"/>
            <a:ext cx="170078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400" b="1" dirty="0">
                <a:solidFill>
                  <a:srgbClr val="1A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Sayfası Güveni</a:t>
            </a:r>
            <a:endParaRPr lang="en-US" sz="1400" dirty="0"/>
          </a:p>
        </p:txBody>
      </p:sp>
      <p:sp>
        <p:nvSpPr>
          <p:cNvPr id="44" name="Text 37"/>
          <p:cNvSpPr/>
          <p:nvPr/>
        </p:nvSpPr>
        <p:spPr>
          <a:xfrm>
            <a:off x="9656064" y="4142232"/>
            <a:ext cx="1737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0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Güven rozetleri, net kargo/iade bilgisi ve güçlü ürün açıklaması.</a:t>
            </a:r>
            <a:endParaRPr lang="en-US" sz="1050" dirty="0"/>
          </a:p>
        </p:txBody>
      </p:sp>
      <p:sp>
        <p:nvSpPr>
          <p:cNvPr id="45" name="Shape 38"/>
          <p:cNvSpPr/>
          <p:nvPr/>
        </p:nvSpPr>
        <p:spPr>
          <a:xfrm>
            <a:off x="640080" y="5074920"/>
            <a:ext cx="10908792" cy="1143000"/>
          </a:xfrm>
          <a:prstGeom prst="roundRect">
            <a:avLst>
              <a:gd name="adj" fmla="val 8000"/>
            </a:avLst>
          </a:prstGeom>
          <a:solidFill>
            <a:srgbClr val="1F7A55"/>
          </a:solidFill>
          <a:ln/>
        </p:spPr>
      </p:sp>
      <p:sp>
        <p:nvSpPr>
          <p:cNvPr id="46" name="Shape 39"/>
          <p:cNvSpPr/>
          <p:nvPr/>
        </p:nvSpPr>
        <p:spPr>
          <a:xfrm>
            <a:off x="960120" y="5367528"/>
            <a:ext cx="548640" cy="548640"/>
          </a:xfrm>
          <a:prstGeom prst="ellipse">
            <a:avLst/>
          </a:prstGeom>
          <a:solidFill>
            <a:srgbClr val="2E9068"/>
          </a:solidFill>
          <a:ln/>
        </p:spPr>
      </p:sp>
      <p:pic>
        <p:nvPicPr>
          <p:cNvPr id="4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2766" y="5510174"/>
            <a:ext cx="263347" cy="263347"/>
          </a:xfrm>
          <a:prstGeom prst="rect">
            <a:avLst/>
          </a:prstGeom>
        </p:spPr>
      </p:pic>
      <p:sp>
        <p:nvSpPr>
          <p:cNvPr id="48" name="Text 40"/>
          <p:cNvSpPr/>
          <p:nvPr/>
        </p:nvSpPr>
        <p:spPr>
          <a:xfrm>
            <a:off x="1691640" y="5212080"/>
            <a:ext cx="9601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Neden buradan başlıyoruz?</a:t>
            </a:r>
            <a:endParaRPr lang="en-US" sz="1500" dirty="0"/>
          </a:p>
        </p:txBody>
      </p:sp>
      <p:sp>
        <p:nvSpPr>
          <p:cNvPr id="49" name="Text 41"/>
          <p:cNvSpPr/>
          <p:nvPr/>
        </p:nvSpPr>
        <p:spPr>
          <a:xfrm>
            <a:off x="1691640" y="5559552"/>
            <a:ext cx="9601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E4F5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beş adım hızlı kurulur, düşük maliyetlidir ve ilk haftalarda ölçülebilir satış artışı ile veri sağlar — sonraki yatırımların yönünü netleştirir.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7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ÇÖZÜM YOL HARİTASI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Eksikleri Kapatma Planı — 90 Gün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Hızlı kazanımlarla başlayıp sürdürülebilir büyümeye geçen aşamalı bir kurulum.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3611880" cy="4023360"/>
          </a:xfrm>
          <a:prstGeom prst="roundRect">
            <a:avLst>
              <a:gd name="adj" fmla="val 2532"/>
            </a:avLst>
          </a:prstGeom>
          <a:solidFill>
            <a:srgbClr val="111A55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2194560"/>
            <a:ext cx="3611880" cy="914400"/>
          </a:xfrm>
          <a:prstGeom prst="roundRect">
            <a:avLst>
              <a:gd name="adj" fmla="val 10000"/>
            </a:avLst>
          </a:prstGeom>
          <a:solidFill>
            <a:srgbClr val="1E40D6"/>
          </a:solidFill>
          <a:ln/>
        </p:spPr>
      </p:sp>
      <p:sp>
        <p:nvSpPr>
          <p:cNvPr id="7" name="Shape 5"/>
          <p:cNvSpPr/>
          <p:nvPr/>
        </p:nvSpPr>
        <p:spPr>
          <a:xfrm>
            <a:off x="640080" y="2697480"/>
            <a:ext cx="3611880" cy="411480"/>
          </a:xfrm>
          <a:prstGeom prst="rect">
            <a:avLst/>
          </a:prstGeom>
          <a:solidFill>
            <a:srgbClr val="1E40D6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2322576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0–30 GÜN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14400" y="26517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Temeli Kur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32688" y="3392424"/>
            <a:ext cx="256032" cy="256032"/>
          </a:xfrm>
          <a:prstGeom prst="ellipse">
            <a:avLst/>
          </a:prstGeom>
          <a:solidFill>
            <a:srgbClr val="1E40D6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3447288"/>
            <a:ext cx="146304" cy="14630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325880" y="3319272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DDE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Ölçüm kurulumu (GA4/Pixel/CAPI)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32688" y="4078224"/>
            <a:ext cx="256032" cy="256032"/>
          </a:xfrm>
          <a:prstGeom prst="ellipse">
            <a:avLst/>
          </a:prstGeom>
          <a:solidFill>
            <a:srgbClr val="1E40D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7552" y="4133088"/>
            <a:ext cx="146304" cy="1463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1325880" y="4005072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DDE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Katalog + dinamik reklam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932688" y="4764024"/>
            <a:ext cx="256032" cy="256032"/>
          </a:xfrm>
          <a:prstGeom prst="ellipse">
            <a:avLst/>
          </a:prstGeom>
          <a:solidFill>
            <a:srgbClr val="1E40D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" y="4818888"/>
            <a:ext cx="146304" cy="14630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4690872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DDE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Sepet terk otomasyonu</a:t>
            </a:r>
            <a:endParaRPr lang="en-US" sz="1200" dirty="0"/>
          </a:p>
        </p:txBody>
      </p:sp>
      <p:sp>
        <p:nvSpPr>
          <p:cNvPr id="19" name="Shape 14"/>
          <p:cNvSpPr/>
          <p:nvPr/>
        </p:nvSpPr>
        <p:spPr>
          <a:xfrm>
            <a:off x="932688" y="5449824"/>
            <a:ext cx="256032" cy="256032"/>
          </a:xfrm>
          <a:prstGeom prst="ellipse">
            <a:avLst/>
          </a:prstGeom>
          <a:solidFill>
            <a:srgbClr val="1E40D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5504688"/>
            <a:ext cx="146304" cy="146304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25880" y="5376672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DDE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Ticimax SEO &amp; hız denetimi</a:t>
            </a:r>
            <a:endParaRPr lang="en-US" sz="1200" dirty="0"/>
          </a:p>
        </p:txBody>
      </p:sp>
      <p:sp>
        <p:nvSpPr>
          <p:cNvPr id="22" name="Shape 16"/>
          <p:cNvSpPr/>
          <p:nvPr/>
        </p:nvSpPr>
        <p:spPr>
          <a:xfrm>
            <a:off x="4379976" y="2194560"/>
            <a:ext cx="3611880" cy="4023360"/>
          </a:xfrm>
          <a:prstGeom prst="roundRect">
            <a:avLst>
              <a:gd name="adj" fmla="val 2532"/>
            </a:avLst>
          </a:prstGeom>
          <a:solidFill>
            <a:srgbClr val="111A55"/>
          </a:solidFill>
          <a:ln/>
        </p:spPr>
      </p:sp>
      <p:sp>
        <p:nvSpPr>
          <p:cNvPr id="23" name="Shape 17"/>
          <p:cNvSpPr/>
          <p:nvPr/>
        </p:nvSpPr>
        <p:spPr>
          <a:xfrm>
            <a:off x="4379976" y="2194560"/>
            <a:ext cx="3611880" cy="914400"/>
          </a:xfrm>
          <a:prstGeom prst="roundRect">
            <a:avLst>
              <a:gd name="adj" fmla="val 10000"/>
            </a:avLst>
          </a:prstGeom>
          <a:solidFill>
            <a:srgbClr val="C0392B"/>
          </a:solidFill>
          <a:ln/>
        </p:spPr>
      </p:sp>
      <p:sp>
        <p:nvSpPr>
          <p:cNvPr id="24" name="Shape 18"/>
          <p:cNvSpPr/>
          <p:nvPr/>
        </p:nvSpPr>
        <p:spPr>
          <a:xfrm>
            <a:off x="4379976" y="2697480"/>
            <a:ext cx="3611880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5" name="Text 19"/>
          <p:cNvSpPr/>
          <p:nvPr/>
        </p:nvSpPr>
        <p:spPr>
          <a:xfrm>
            <a:off x="4654296" y="2322576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30–60 GÜN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4654296" y="26517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Ölçekle</a:t>
            </a:r>
            <a:endParaRPr lang="en-US" sz="1800" dirty="0"/>
          </a:p>
        </p:txBody>
      </p:sp>
      <p:sp>
        <p:nvSpPr>
          <p:cNvPr id="27" name="Shape 21"/>
          <p:cNvSpPr/>
          <p:nvPr/>
        </p:nvSpPr>
        <p:spPr>
          <a:xfrm>
            <a:off x="4672584" y="3392424"/>
            <a:ext cx="256032" cy="256032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7448" y="3447288"/>
            <a:ext cx="146304" cy="146304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5065776" y="3319272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DDE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Ads &amp; remarketing</a:t>
            </a:r>
            <a:endParaRPr lang="en-US" sz="1200" dirty="0"/>
          </a:p>
        </p:txBody>
      </p:sp>
      <p:sp>
        <p:nvSpPr>
          <p:cNvPr id="30" name="Shape 23"/>
          <p:cNvSpPr/>
          <p:nvPr/>
        </p:nvSpPr>
        <p:spPr>
          <a:xfrm>
            <a:off x="4672584" y="4078224"/>
            <a:ext cx="256032" cy="256032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27448" y="4133088"/>
            <a:ext cx="146304" cy="146304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5065776" y="4005072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DDE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Bütçe &amp; kreatif optimizasyonu</a:t>
            </a:r>
            <a:endParaRPr lang="en-US" sz="1200" dirty="0"/>
          </a:p>
        </p:txBody>
      </p:sp>
      <p:sp>
        <p:nvSpPr>
          <p:cNvPr id="33" name="Shape 25"/>
          <p:cNvSpPr/>
          <p:nvPr/>
        </p:nvSpPr>
        <p:spPr>
          <a:xfrm>
            <a:off x="4672584" y="4764024"/>
            <a:ext cx="256032" cy="256032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27448" y="4818888"/>
            <a:ext cx="146304" cy="146304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5065776" y="4690872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DDE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Düzenli içerik/UGC akışı</a:t>
            </a:r>
            <a:endParaRPr lang="en-US" sz="1200" dirty="0"/>
          </a:p>
        </p:txBody>
      </p:sp>
      <p:sp>
        <p:nvSpPr>
          <p:cNvPr id="36" name="Shape 27"/>
          <p:cNvSpPr/>
          <p:nvPr/>
        </p:nvSpPr>
        <p:spPr>
          <a:xfrm>
            <a:off x="4672584" y="5449824"/>
            <a:ext cx="256032" cy="256032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27448" y="5504688"/>
            <a:ext cx="146304" cy="146304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5065776" y="5376672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DDE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Ürün sayfası CRO</a:t>
            </a:r>
            <a:endParaRPr lang="en-US" sz="1200" dirty="0"/>
          </a:p>
        </p:txBody>
      </p:sp>
      <p:sp>
        <p:nvSpPr>
          <p:cNvPr id="39" name="Shape 29"/>
          <p:cNvSpPr/>
          <p:nvPr/>
        </p:nvSpPr>
        <p:spPr>
          <a:xfrm>
            <a:off x="8119872" y="2194560"/>
            <a:ext cx="3611880" cy="4023360"/>
          </a:xfrm>
          <a:prstGeom prst="roundRect">
            <a:avLst>
              <a:gd name="adj" fmla="val 2532"/>
            </a:avLst>
          </a:prstGeom>
          <a:solidFill>
            <a:srgbClr val="111A55"/>
          </a:solidFill>
          <a:ln/>
        </p:spPr>
      </p:sp>
      <p:sp>
        <p:nvSpPr>
          <p:cNvPr id="40" name="Shape 30"/>
          <p:cNvSpPr/>
          <p:nvPr/>
        </p:nvSpPr>
        <p:spPr>
          <a:xfrm>
            <a:off x="8119872" y="2194560"/>
            <a:ext cx="3611880" cy="914400"/>
          </a:xfrm>
          <a:prstGeom prst="roundRect">
            <a:avLst>
              <a:gd name="adj" fmla="val 10000"/>
            </a:avLst>
          </a:prstGeom>
          <a:solidFill>
            <a:srgbClr val="C98A3C"/>
          </a:solidFill>
          <a:ln/>
        </p:spPr>
      </p:sp>
      <p:sp>
        <p:nvSpPr>
          <p:cNvPr id="41" name="Shape 31"/>
          <p:cNvSpPr/>
          <p:nvPr/>
        </p:nvSpPr>
        <p:spPr>
          <a:xfrm>
            <a:off x="8119872" y="2697480"/>
            <a:ext cx="3611880" cy="411480"/>
          </a:xfrm>
          <a:prstGeom prst="rect">
            <a:avLst/>
          </a:prstGeom>
          <a:solidFill>
            <a:srgbClr val="C98A3C"/>
          </a:solidFill>
          <a:ln/>
        </p:spPr>
      </p:sp>
      <p:sp>
        <p:nvSpPr>
          <p:cNvPr id="42" name="Text 32"/>
          <p:cNvSpPr/>
          <p:nvPr/>
        </p:nvSpPr>
        <p:spPr>
          <a:xfrm>
            <a:off x="8394192" y="2322576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60–90 GÜN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8394192" y="265176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Büyüt &amp; Sadık Kıl</a:t>
            </a:r>
            <a:endParaRPr lang="en-US" sz="1800" dirty="0"/>
          </a:p>
        </p:txBody>
      </p:sp>
      <p:sp>
        <p:nvSpPr>
          <p:cNvPr id="44" name="Shape 34"/>
          <p:cNvSpPr/>
          <p:nvPr/>
        </p:nvSpPr>
        <p:spPr>
          <a:xfrm>
            <a:off x="8412480" y="3392424"/>
            <a:ext cx="256032" cy="256032"/>
          </a:xfrm>
          <a:prstGeom prst="ellipse">
            <a:avLst/>
          </a:prstGeom>
          <a:solidFill>
            <a:srgbClr val="C98A3C"/>
          </a:solidFill>
          <a:ln/>
        </p:spPr>
      </p:sp>
      <p:pic>
        <p:nvPicPr>
          <p:cNvPr id="4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7344" y="3447288"/>
            <a:ext cx="146304" cy="146304"/>
          </a:xfrm>
          <a:prstGeom prst="rect">
            <a:avLst/>
          </a:prstGeom>
        </p:spPr>
      </p:pic>
      <p:sp>
        <p:nvSpPr>
          <p:cNvPr id="46" name="Text 35"/>
          <p:cNvSpPr/>
          <p:nvPr/>
        </p:nvSpPr>
        <p:spPr>
          <a:xfrm>
            <a:off x="8805672" y="3319272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DDE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&amp; tekrar satış senaryoları</a:t>
            </a:r>
            <a:endParaRPr lang="en-US" sz="1200" dirty="0"/>
          </a:p>
        </p:txBody>
      </p:sp>
      <p:sp>
        <p:nvSpPr>
          <p:cNvPr id="47" name="Shape 36"/>
          <p:cNvSpPr/>
          <p:nvPr/>
        </p:nvSpPr>
        <p:spPr>
          <a:xfrm>
            <a:off x="8412480" y="4078224"/>
            <a:ext cx="256032" cy="256032"/>
          </a:xfrm>
          <a:prstGeom prst="ellipse">
            <a:avLst/>
          </a:prstGeom>
          <a:solidFill>
            <a:srgbClr val="C98A3C"/>
          </a:solidFill>
          <a:ln/>
        </p:spPr>
      </p:sp>
      <p:pic>
        <p:nvPicPr>
          <p:cNvPr id="48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7344" y="4133088"/>
            <a:ext cx="146304" cy="146304"/>
          </a:xfrm>
          <a:prstGeom prst="rect">
            <a:avLst/>
          </a:prstGeom>
        </p:spPr>
      </p:pic>
      <p:sp>
        <p:nvSpPr>
          <p:cNvPr id="49" name="Text 37"/>
          <p:cNvSpPr/>
          <p:nvPr/>
        </p:nvSpPr>
        <p:spPr>
          <a:xfrm>
            <a:off x="8805672" y="4005072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DDE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 içerik üretimi</a:t>
            </a:r>
            <a:endParaRPr lang="en-US" sz="1200" dirty="0"/>
          </a:p>
        </p:txBody>
      </p:sp>
      <p:sp>
        <p:nvSpPr>
          <p:cNvPr id="50" name="Shape 38"/>
          <p:cNvSpPr/>
          <p:nvPr/>
        </p:nvSpPr>
        <p:spPr>
          <a:xfrm>
            <a:off x="8412480" y="4764024"/>
            <a:ext cx="256032" cy="256032"/>
          </a:xfrm>
          <a:prstGeom prst="ellipse">
            <a:avLst/>
          </a:prstGeom>
          <a:solidFill>
            <a:srgbClr val="C98A3C"/>
          </a:solidFill>
          <a:ln/>
        </p:spPr>
      </p:sp>
      <p:pic>
        <p:nvPicPr>
          <p:cNvPr id="5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67344" y="4818888"/>
            <a:ext cx="146304" cy="146304"/>
          </a:xfrm>
          <a:prstGeom prst="rect">
            <a:avLst/>
          </a:prstGeom>
        </p:spPr>
      </p:pic>
      <p:sp>
        <p:nvSpPr>
          <p:cNvPr id="52" name="Text 39"/>
          <p:cNvSpPr/>
          <p:nvPr/>
        </p:nvSpPr>
        <p:spPr>
          <a:xfrm>
            <a:off x="8805672" y="4690872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DDE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Kazanan kreatifleri büyütme</a:t>
            </a:r>
            <a:endParaRPr lang="en-US" sz="1200" dirty="0"/>
          </a:p>
        </p:txBody>
      </p:sp>
      <p:sp>
        <p:nvSpPr>
          <p:cNvPr id="53" name="Shape 40"/>
          <p:cNvSpPr/>
          <p:nvPr/>
        </p:nvSpPr>
        <p:spPr>
          <a:xfrm>
            <a:off x="8412480" y="5449824"/>
            <a:ext cx="256032" cy="256032"/>
          </a:xfrm>
          <a:prstGeom prst="ellipse">
            <a:avLst/>
          </a:prstGeom>
          <a:solidFill>
            <a:srgbClr val="C98A3C"/>
          </a:solidFill>
          <a:ln/>
        </p:spPr>
      </p:sp>
      <p:pic>
        <p:nvPicPr>
          <p:cNvPr id="54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467344" y="5504688"/>
            <a:ext cx="146304" cy="146304"/>
          </a:xfrm>
          <a:prstGeom prst="rect">
            <a:avLst/>
          </a:prstGeom>
        </p:spPr>
      </p:pic>
      <p:sp>
        <p:nvSpPr>
          <p:cNvPr id="55" name="Text 41"/>
          <p:cNvSpPr/>
          <p:nvPr/>
        </p:nvSpPr>
        <p:spPr>
          <a:xfrm>
            <a:off x="8805672" y="5376672"/>
            <a:ext cx="2697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1200" dirty="0">
                <a:solidFill>
                  <a:srgbClr val="DDE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Performans raporu &amp; yeni hedefler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1E40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ÖLÇÜM &amp; KANIT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7724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1D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Başarıyı Nasıl Ölçüp Kanıtlayacağız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630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Başlangıç değerlerini (baseline) ölçer, her ay hedefe göre ilerlemeyi şeffaf raporlarız.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94560"/>
            <a:ext cx="2670048" cy="2194560"/>
          </a:xfrm>
          <a:prstGeom prst="roundRect">
            <a:avLst>
              <a:gd name="adj" fmla="val 4167"/>
            </a:avLst>
          </a:prstGeom>
          <a:solidFill>
            <a:srgbClr val="F5F1E8"/>
          </a:solidFill>
          <a:ln w="12700">
            <a:solidFill>
              <a:srgbClr val="E3DED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487168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E40D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896112" y="3401568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Reklam Getirisi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96112" y="3785616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Harcanan her liranın kaç lira satışa döndüğü.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29000" y="2194560"/>
            <a:ext cx="2670048" cy="2194560"/>
          </a:xfrm>
          <a:prstGeom prst="roundRect">
            <a:avLst>
              <a:gd name="adj" fmla="val 4167"/>
            </a:avLst>
          </a:prstGeom>
          <a:solidFill>
            <a:srgbClr val="F5F1E8"/>
          </a:solidFill>
          <a:ln w="12700">
            <a:solidFill>
              <a:srgbClr val="E3DED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0" y="2487168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3685032" y="3401568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Dönüşüm Oranı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85032" y="3785616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Ziyaretçinin siparişe dönüşme yüzdesi.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17920" y="2194560"/>
            <a:ext cx="2670048" cy="2194560"/>
          </a:xfrm>
          <a:prstGeom prst="roundRect">
            <a:avLst>
              <a:gd name="adj" fmla="val 4167"/>
            </a:avLst>
          </a:prstGeom>
          <a:solidFill>
            <a:srgbClr val="F5F1E8"/>
          </a:solidFill>
          <a:ln w="12700">
            <a:solidFill>
              <a:srgbClr val="E3DED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46520" y="2487168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98A3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CAC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6473952" y="3401568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Müşteri Maliyeti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73952" y="3785616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Yeni bir müşteri kazanmanın ortalama maliyeti.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006840" y="2194560"/>
            <a:ext cx="2670048" cy="2194560"/>
          </a:xfrm>
          <a:prstGeom prst="roundRect">
            <a:avLst>
              <a:gd name="adj" fmla="val 4167"/>
            </a:avLst>
          </a:prstGeom>
          <a:solidFill>
            <a:srgbClr val="F5F1E8"/>
          </a:solidFill>
          <a:ln w="12700">
            <a:solidFill>
              <a:srgbClr val="E3DED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235440" y="2487168"/>
            <a:ext cx="221284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7A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AOV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262872" y="3401568"/>
            <a:ext cx="221284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D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Sepet Tutarı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262872" y="3785616"/>
            <a:ext cx="221284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Ortalama sipariş değeri ve büyüme hedefi.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40080" y="4754880"/>
            <a:ext cx="10908792" cy="1417320"/>
          </a:xfrm>
          <a:prstGeom prst="roundRect">
            <a:avLst>
              <a:gd name="adj" fmla="val 6452"/>
            </a:avLst>
          </a:prstGeom>
          <a:solidFill>
            <a:srgbClr val="0B1240"/>
          </a:solidFill>
          <a:ln/>
        </p:spPr>
      </p:sp>
      <p:sp>
        <p:nvSpPr>
          <p:cNvPr id="22" name="Shape 20"/>
          <p:cNvSpPr/>
          <p:nvPr/>
        </p:nvSpPr>
        <p:spPr>
          <a:xfrm>
            <a:off x="960120" y="5074920"/>
            <a:ext cx="777240" cy="777240"/>
          </a:xfrm>
          <a:prstGeom prst="ellipse">
            <a:avLst/>
          </a:prstGeom>
          <a:solidFill>
            <a:srgbClr val="1E40D6"/>
          </a:solidFill>
          <a:ln/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2202" y="5277002"/>
            <a:ext cx="373075" cy="373075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965960" y="4983480"/>
            <a:ext cx="9144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Şeffaf Raporlama Ritmi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1965960" y="5394960"/>
            <a:ext cx="93268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5B7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Haftalık: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DE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reklam optimizasyonu     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5B7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Aylık: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DE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detaylı performans raporu + toplantı     </a:t>
            </a:r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5B7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Canlı:  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DDE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GA4 &amp; reklam paneli erişimi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2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52560" y="-2194560"/>
            <a:ext cx="6035040" cy="6035040"/>
          </a:xfrm>
          <a:prstGeom prst="ellipse">
            <a:avLst/>
          </a:prstGeom>
          <a:solidFill>
            <a:srgbClr val="111A55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3566160"/>
            <a:ext cx="4023360" cy="4023360"/>
          </a:xfrm>
          <a:prstGeom prst="ellipse">
            <a:avLst/>
          </a:prstGeom>
          <a:solidFill>
            <a:srgbClr val="1E40D6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6400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5B7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ÖZET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822960" y="96012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Eksikleri Fırsata Çeviriyoruz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822960" y="2377440"/>
            <a:ext cx="5074920" cy="1280160"/>
          </a:xfrm>
          <a:prstGeom prst="roundRect">
            <a:avLst>
              <a:gd name="adj" fmla="val 6429"/>
            </a:avLst>
          </a:prstGeom>
          <a:solidFill>
            <a:srgbClr val="111A55"/>
          </a:solidFill>
          <a:ln/>
        </p:spPr>
      </p:sp>
      <p:sp>
        <p:nvSpPr>
          <p:cNvPr id="7" name="Shape 5"/>
          <p:cNvSpPr/>
          <p:nvPr/>
        </p:nvSpPr>
        <p:spPr>
          <a:xfrm>
            <a:off x="1078992" y="2697480"/>
            <a:ext cx="658368" cy="658368"/>
          </a:xfrm>
          <a:prstGeom prst="ellipse">
            <a:avLst/>
          </a:prstGeom>
          <a:solidFill>
            <a:srgbClr val="1E40D6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50168" y="2868656"/>
            <a:ext cx="316017" cy="31601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74520" y="25786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Satış Odaklı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874520" y="298094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9C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Beğeni değil; sipariş, ciro ve ROAS hedefleriz.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6172200" y="2377440"/>
            <a:ext cx="5074920" cy="1280160"/>
          </a:xfrm>
          <a:prstGeom prst="roundRect">
            <a:avLst>
              <a:gd name="adj" fmla="val 6429"/>
            </a:avLst>
          </a:prstGeom>
          <a:solidFill>
            <a:srgbClr val="111A55"/>
          </a:solidFill>
          <a:ln/>
        </p:spPr>
      </p:sp>
      <p:sp>
        <p:nvSpPr>
          <p:cNvPr id="12" name="Shape 9"/>
          <p:cNvSpPr/>
          <p:nvPr/>
        </p:nvSpPr>
        <p:spPr>
          <a:xfrm>
            <a:off x="6428232" y="2697480"/>
            <a:ext cx="658368" cy="658368"/>
          </a:xfrm>
          <a:prstGeom prst="ellipse">
            <a:avLst/>
          </a:prstGeom>
          <a:solidFill>
            <a:srgbClr val="1E40D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9408" y="2868656"/>
            <a:ext cx="316017" cy="31601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23760" y="25786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Bütünsel Çözüm</a:t>
            </a:r>
            <a:endParaRPr lang="en-US" sz="1550" dirty="0"/>
          </a:p>
        </p:txBody>
      </p:sp>
      <p:sp>
        <p:nvSpPr>
          <p:cNvPr id="15" name="Text 11"/>
          <p:cNvSpPr/>
          <p:nvPr/>
        </p:nvSpPr>
        <p:spPr>
          <a:xfrm>
            <a:off x="7223760" y="298094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9C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Ölçüm, reklam, içerik ve altyapı tek stratejide.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22960" y="3886200"/>
            <a:ext cx="5074920" cy="1280160"/>
          </a:xfrm>
          <a:prstGeom prst="roundRect">
            <a:avLst>
              <a:gd name="adj" fmla="val 6429"/>
            </a:avLst>
          </a:prstGeom>
          <a:solidFill>
            <a:srgbClr val="111A55"/>
          </a:solidFill>
          <a:ln/>
        </p:spPr>
      </p:sp>
      <p:sp>
        <p:nvSpPr>
          <p:cNvPr id="17" name="Shape 13"/>
          <p:cNvSpPr/>
          <p:nvPr/>
        </p:nvSpPr>
        <p:spPr>
          <a:xfrm>
            <a:off x="1078992" y="4206240"/>
            <a:ext cx="658368" cy="658368"/>
          </a:xfrm>
          <a:prstGeom prst="ellipse">
            <a:avLst/>
          </a:prstGeom>
          <a:solidFill>
            <a:srgbClr val="1E40D6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0168" y="4377416"/>
            <a:ext cx="316017" cy="31601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74520" y="40873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Ticimax Uzmanlığı</a:t>
            </a:r>
            <a:endParaRPr lang="en-US" sz="1550" dirty="0"/>
          </a:p>
        </p:txBody>
      </p:sp>
      <p:sp>
        <p:nvSpPr>
          <p:cNvPr id="20" name="Text 15"/>
          <p:cNvSpPr/>
          <p:nvPr/>
        </p:nvSpPr>
        <p:spPr>
          <a:xfrm>
            <a:off x="1874520" y="448970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9C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Sadece reklam değil, altyapıyı da biz yönetiriz.</a:t>
            </a:r>
            <a:endParaRPr lang="en-US" sz="1150" dirty="0"/>
          </a:p>
        </p:txBody>
      </p:sp>
      <p:sp>
        <p:nvSpPr>
          <p:cNvPr id="21" name="Shape 16"/>
          <p:cNvSpPr/>
          <p:nvPr/>
        </p:nvSpPr>
        <p:spPr>
          <a:xfrm>
            <a:off x="6172200" y="3886200"/>
            <a:ext cx="5074920" cy="1280160"/>
          </a:xfrm>
          <a:prstGeom prst="roundRect">
            <a:avLst>
              <a:gd name="adj" fmla="val 6429"/>
            </a:avLst>
          </a:prstGeom>
          <a:solidFill>
            <a:srgbClr val="111A55"/>
          </a:solidFill>
          <a:ln/>
        </p:spPr>
      </p:sp>
      <p:sp>
        <p:nvSpPr>
          <p:cNvPr id="22" name="Shape 17"/>
          <p:cNvSpPr/>
          <p:nvPr/>
        </p:nvSpPr>
        <p:spPr>
          <a:xfrm>
            <a:off x="6428232" y="4206240"/>
            <a:ext cx="658368" cy="658368"/>
          </a:xfrm>
          <a:prstGeom prst="ellipse">
            <a:avLst/>
          </a:prstGeom>
          <a:solidFill>
            <a:srgbClr val="1E40D6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9408" y="4377416"/>
            <a:ext cx="316017" cy="316017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223760" y="408736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Şeffaflık</a:t>
            </a:r>
            <a:endParaRPr lang="en-US" sz="1550" dirty="0"/>
          </a:p>
        </p:txBody>
      </p:sp>
      <p:sp>
        <p:nvSpPr>
          <p:cNvPr id="25" name="Text 19"/>
          <p:cNvSpPr/>
          <p:nvPr/>
        </p:nvSpPr>
        <p:spPr>
          <a:xfrm>
            <a:off x="7223760" y="4489704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C9CE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Baseline'dan hedefe ölçülebilir, raporlu ilerleme.</a:t>
            </a:r>
            <a:endParaRPr lang="en-US" sz="1150" dirty="0"/>
          </a:p>
        </p:txBody>
      </p:sp>
      <p:sp>
        <p:nvSpPr>
          <p:cNvPr id="26" name="Shape 20"/>
          <p:cNvSpPr/>
          <p:nvPr/>
        </p:nvSpPr>
        <p:spPr>
          <a:xfrm>
            <a:off x="822960" y="5532120"/>
            <a:ext cx="10561320" cy="868680"/>
          </a:xfrm>
          <a:prstGeom prst="roundRect">
            <a:avLst>
              <a:gd name="adj" fmla="val 10526"/>
            </a:avLst>
          </a:prstGeom>
          <a:solidFill>
            <a:srgbClr val="1E40D6"/>
          </a:solidFill>
          <a:ln/>
        </p:spPr>
      </p:sp>
      <p:sp>
        <p:nvSpPr>
          <p:cNvPr id="27" name="Text 21"/>
          <p:cNvSpPr/>
          <p:nvPr/>
        </p:nvSpPr>
        <p:spPr>
          <a:xfrm>
            <a:off x="1097280" y="5532120"/>
            <a:ext cx="72237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Sonraki adım: panel + analitik erişimiyle teşhisi kesinleştirip 30 günlük hızlı kazanım paketini başlatmak.</a:t>
            </a:r>
            <a:endParaRPr lang="en-US" sz="1350" dirty="0"/>
          </a:p>
        </p:txBody>
      </p:sp>
      <p:sp>
        <p:nvSpPr>
          <p:cNvPr id="28" name="Text 22"/>
          <p:cNvSpPr/>
          <p:nvPr/>
        </p:nvSpPr>
        <p:spPr>
          <a:xfrm>
            <a:off x="8321040" y="5532120"/>
            <a:ext cx="2880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Partum Ajans   ·   </a:t>
            </a:r>
            <a:pPr algn="r" indent="0" marL="0">
              <a:buNone/>
            </a:pPr>
            <a:r>
              <a:rPr lang="en-US" sz="1250" dirty="0">
                <a:solidFill>
                  <a:srgbClr val="DDE3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partumajans@gmail.com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2026-07-18T11:33:39Z</dcterms:created>
  <dcterms:modified xsi:type="dcterms:W3CDTF">2026-07-18T11:33:39Z</dcterms:modified>
</cp:coreProperties>
</file>