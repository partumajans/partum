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Açılış: Ragyu'nun güçlü marka ve premium ürün konumunu tebrik ederek başla. Bugün 4 başlıkta uçtan uca bir dijital büyüme planı sunacağımı belirt: dijital pazarlama, reklam yönetimi, içerik üretimi ve Ticimax teknik destek.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Amaç: firmayı 'zaten çok iyisiniz' mesajıyla rahatlatmak. Bu 6 güç noktası, reklamda ve içerikte kullanacağımız hammaddedir. Premium ürün + kendi çiftliği hikayesi, rakiplerden ayrışmanın en güçlü kozu.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4 kaldıraç sunumun geri kalanının iskeleti. Her birini ilerleyen slaytlarda detaylandıracağımızı söyle. Mesaj: eksik değil, 'büyütülecek' alanlar.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sunumun haritası. Her sütun bir sonraki slaytta tek tek açılacak. Vurgu: dört alan ayrı ajanslara değil, tek stratejiye bağlı — bu tutarlılık ve hız kazandırır.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Mesaj: reklam tek başına yeterli değil. SEO organik trafiği, e-posta/SMS ve CRM ise mevcut müşteriden tekrar satışı getirir — reklam maliyetini düşürür. Bu katman markanın 'kendi kanalını' güçlendirir.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kritik gelir slaytı. Vurgu: reklam 'gösterim' değil 'sipariş' için kurulur. Katalog + remarketing e-ticaret için en yüksek getiriyi verir. ROAS hedefli çalışırız, harcamayı sonuca göre ölçekleriz.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İçerik = reklamın yakıtı. Bol ve kaliteli kreatif olmadan reklam yorulur. UGC ve tarif içerikleri hem güven hem organik erişim getirir. İçerik takvimini kampanya ve reklamla senkron kurgularız.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Farklılaştırıcı nokta: çoğu ajans sadece reklam yapar, siteye dokunmaz. Biz Ticimax panelini de yönetiriz — SEO, hız, entegrasyon ve dönüşüm. Böylece reklam trafiği boşa gitmez, satışa döner.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Beklentiyi yönet: 1. ay kurulum ve hızlı kazanımlar, gerçek ivme 2–3. ayda gelir. Bu plan ölçülebilir dönüm noktaları verir; her ay sonunda birlikte değerlendiririz.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Güven mesajı: her şey ölçülür ve şeffaf paylaşılır. Firma panellere kendi erişimini alır. KPI'ları birlikte belirleyelim ki başarı ortak tanımlansın.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Kapanış: net bir sonraki adım öner — küçük bir başlangıç (kurulum + ilk kampanyalar) ile başlayıp sonuçlara göre büyütmeyi teklif et. Soruları al, hedefleri birlikte tanımla.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40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11A55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3383280"/>
            <a:ext cx="4206240" cy="4206240"/>
          </a:xfrm>
          <a:prstGeom prst="ellipse">
            <a:avLst/>
          </a:prstGeom>
          <a:solidFill>
            <a:srgbClr val="1E40D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777240"/>
            <a:ext cx="822960" cy="822960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99121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RAGYU  premium kasap+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68680" y="2331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DİJİTAL BÜYÜME ORTAKLIĞI SUNUMU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697480"/>
            <a:ext cx="8778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Dijital Pazarlama, Reklam Yönetimi</a:t>
            </a:r>
            <a:endParaRPr lang="en-US" sz="4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İçerik Üretimi &amp; Ticimax Teknik Destek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68680" y="46177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Markanızı premium konumundan dijitalde ölçeklenebilir satışa taşıyan uçtan uca büyüme planı.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5623560"/>
            <a:ext cx="3657600" cy="0"/>
          </a:xfrm>
          <a:prstGeom prst="line">
            <a:avLst/>
          </a:prstGeom>
          <a:noFill/>
          <a:ln w="25400">
            <a:solidFill>
              <a:srgbClr val="1E40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5806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Hazırlayan: Partum Ajans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8680" y="61447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Sunumu  ·  Salı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E4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NEREDEN BAŞLIYORUZ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Analizi — Güçlü Bir Temel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Ragyu, dijitalde çoğu markanın sıfırdan kurmaya çalıştığı değerlere zaten sahip. Biz bu temeli ölçeklendireceğiz.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49631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3" y="2662733"/>
            <a:ext cx="307238" cy="30723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96112" y="2496312"/>
            <a:ext cx="640080" cy="64008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66090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53288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Ürün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96112" y="3172968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Wagyu, dry-aged, tomahawk, T-bone; katkısız fermente şarküteri ve özel soslar.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334256" y="22402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90288" y="249631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709" y="2662733"/>
            <a:ext cx="307238" cy="30723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590288" y="2496312"/>
            <a:ext cx="640080" cy="64008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609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85816" y="253288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Çiftliği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4590288" y="3172968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İzmir Menderes'te 70 hektar; Angus &amp; Hereford, İyi Tarım standartları.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8028432" y="22402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284464" y="249631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0885" y="2662733"/>
            <a:ext cx="307238" cy="307238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284464" y="2496312"/>
            <a:ext cx="640080" cy="64008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660904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9079992" y="253288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Türkiye Geneli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8284464" y="3172968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Soğuk zincir kargo ile tüm Türkiye; İzmir içi hızlı teslimat.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640080" y="4178808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896112" y="44348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01261"/>
            <a:ext cx="307238" cy="307238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896112" y="4434840"/>
            <a:ext cx="640080" cy="64008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599432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691640" y="447141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Marka Kimliği</a:t>
            </a:r>
            <a:endParaRPr lang="en-US" sz="1500" dirty="0"/>
          </a:p>
        </p:txBody>
      </p:sp>
      <p:sp>
        <p:nvSpPr>
          <p:cNvPr id="32" name="Text 22"/>
          <p:cNvSpPr/>
          <p:nvPr/>
        </p:nvSpPr>
        <p:spPr>
          <a:xfrm>
            <a:off x="896112" y="5111496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Tutarlı mavi kimlik, güçlü görsel dil, sadık topluluk ve merch.</a:t>
            </a:r>
            <a:endParaRPr lang="en-US" sz="1150" dirty="0"/>
          </a:p>
        </p:txBody>
      </p:sp>
      <p:sp>
        <p:nvSpPr>
          <p:cNvPr id="33" name="Shape 23"/>
          <p:cNvSpPr/>
          <p:nvPr/>
        </p:nvSpPr>
        <p:spPr>
          <a:xfrm>
            <a:off x="4334256" y="4178808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4590288" y="44348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6709" y="4601261"/>
            <a:ext cx="307238" cy="307238"/>
          </a:xfrm>
          <a:prstGeom prst="rect">
            <a:avLst/>
          </a:prstGeom>
        </p:spPr>
      </p:pic>
      <p:sp>
        <p:nvSpPr>
          <p:cNvPr id="36" name="Shape 25"/>
          <p:cNvSpPr/>
          <p:nvPr/>
        </p:nvSpPr>
        <p:spPr>
          <a:xfrm>
            <a:off x="4590288" y="4434840"/>
            <a:ext cx="640080" cy="64008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4599432"/>
            <a:ext cx="310896" cy="310896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5385816" y="447141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 E-ticaret</a:t>
            </a:r>
            <a:endParaRPr lang="en-US" sz="1500" dirty="0"/>
          </a:p>
        </p:txBody>
      </p:sp>
      <p:sp>
        <p:nvSpPr>
          <p:cNvPr id="39" name="Text 27"/>
          <p:cNvSpPr/>
          <p:nvPr/>
        </p:nvSpPr>
        <p:spPr>
          <a:xfrm>
            <a:off x="4590288" y="5111496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Ticimax altyapısı, paket ürünler (Box, Seçki, Barbekü) ve kampanya düzeni.</a:t>
            </a:r>
            <a:endParaRPr lang="en-US" sz="1150" dirty="0"/>
          </a:p>
        </p:txBody>
      </p:sp>
      <p:sp>
        <p:nvSpPr>
          <p:cNvPr id="40" name="Shape 28"/>
          <p:cNvSpPr/>
          <p:nvPr/>
        </p:nvSpPr>
        <p:spPr>
          <a:xfrm>
            <a:off x="8028432" y="4178808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41" name="Shape 29"/>
          <p:cNvSpPr/>
          <p:nvPr/>
        </p:nvSpPr>
        <p:spPr>
          <a:xfrm>
            <a:off x="8284464" y="44348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0885" y="4601261"/>
            <a:ext cx="307238" cy="307238"/>
          </a:xfrm>
          <a:prstGeom prst="rect">
            <a:avLst/>
          </a:prstGeom>
        </p:spPr>
      </p:pic>
      <p:sp>
        <p:nvSpPr>
          <p:cNvPr id="43" name="Shape 30"/>
          <p:cNvSpPr/>
          <p:nvPr/>
        </p:nvSpPr>
        <p:spPr>
          <a:xfrm>
            <a:off x="8284464" y="4434840"/>
            <a:ext cx="640080" cy="64008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4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49056" y="4599432"/>
            <a:ext cx="310896" cy="310896"/>
          </a:xfrm>
          <a:prstGeom prst="rect">
            <a:avLst/>
          </a:prstGeom>
        </p:spPr>
      </p:pic>
      <p:sp>
        <p:nvSpPr>
          <p:cNvPr id="45" name="Text 31"/>
          <p:cNvSpPr/>
          <p:nvPr/>
        </p:nvSpPr>
        <p:spPr>
          <a:xfrm>
            <a:off x="9079992" y="447141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Niş Konumlama</a:t>
            </a:r>
            <a:endParaRPr lang="en-US" sz="1500" dirty="0"/>
          </a:p>
        </p:txBody>
      </p:sp>
      <p:sp>
        <p:nvSpPr>
          <p:cNvPr id="46" name="Text 32"/>
          <p:cNvSpPr/>
          <p:nvPr/>
        </p:nvSpPr>
        <p:spPr>
          <a:xfrm>
            <a:off x="8284464" y="5111496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"Made for Meat Lovers" — net hedef kitle ve premium fiyat algısı.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NEYİ BÜYÜTECEĞİZ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Fırsatlar &amp; Dijital Öncelikler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marka + hazır altyapı = ölçeklemeye hazır zemin. Aşağıdaki 4 kaldıraç, satışı katlamak için önceliğimiz.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111A55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642616"/>
            <a:ext cx="777240" cy="777240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770" y="2844698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62432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Performanslı Reklam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920240" y="3154680"/>
            <a:ext cx="3886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ve arama reklamlarını satın alan-odaklı, katalog ve remarketing kurgusuyla ölçeklemek.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2331720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111A55"/>
          </a:solidFill>
          <a:ln/>
        </p:spPr>
      </p:sp>
      <p:sp>
        <p:nvSpPr>
          <p:cNvPr id="11" name="Shape 8"/>
          <p:cNvSpPr/>
          <p:nvPr/>
        </p:nvSpPr>
        <p:spPr>
          <a:xfrm>
            <a:off x="6601968" y="2642616"/>
            <a:ext cx="777240" cy="777240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050" y="2844698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89520" y="262432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Hunisi &amp; CRM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589520" y="3154680"/>
            <a:ext cx="3886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Ziyaretçiyi ilk siparişe, ilk siparişi düzenli müşteriye dönüştüren otomatik akışlar.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4370832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111A55"/>
          </a:solidFill>
          <a:ln/>
        </p:spPr>
      </p:sp>
      <p:sp>
        <p:nvSpPr>
          <p:cNvPr id="16" name="Shape 12"/>
          <p:cNvSpPr/>
          <p:nvPr/>
        </p:nvSpPr>
        <p:spPr>
          <a:xfrm>
            <a:off x="932688" y="4681728"/>
            <a:ext cx="777240" cy="777240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70" y="4883810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920240" y="466344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&amp; Organik Trafik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920240" y="5193792"/>
            <a:ext cx="3886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+ blog içerikleriyle Google'da 'online kasap, wagyu, dry age' aramalarında görünürlük.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309360" y="4370832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111A55"/>
          </a:solidFill>
          <a:ln/>
        </p:spPr>
      </p:sp>
      <p:sp>
        <p:nvSpPr>
          <p:cNvPr id="21" name="Shape 16"/>
          <p:cNvSpPr/>
          <p:nvPr/>
        </p:nvSpPr>
        <p:spPr>
          <a:xfrm>
            <a:off x="6601968" y="4681728"/>
            <a:ext cx="777240" cy="777240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050" y="4883810"/>
            <a:ext cx="373075" cy="3730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89520" y="466344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Ölçüm &amp; Optimizasyon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589520" y="5193792"/>
            <a:ext cx="3886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Piksel/GA4 kurulumu ile her lirayı izlenebilir kılıp sürekli iyileştirme döngüsü.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E4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ÇALIŞMA MODELİ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Dört Sütunlu Büyüme Yaklaşımımız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Birbirini besleyen dört alanı tek elden, tek strateji altında yönetiyoruz.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97480" cy="3794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2860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1E40D6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108960"/>
            <a:ext cx="2697480" cy="594360"/>
          </a:xfrm>
          <a:prstGeom prst="rect">
            <a:avLst/>
          </a:prstGeom>
          <a:solidFill>
            <a:srgbClr val="1E40D6"/>
          </a:solidFill>
          <a:ln/>
        </p:spPr>
      </p:sp>
      <p:sp>
        <p:nvSpPr>
          <p:cNvPr id="8" name="Shape 6"/>
          <p:cNvSpPr/>
          <p:nvPr/>
        </p:nvSpPr>
        <p:spPr>
          <a:xfrm>
            <a:off x="1577340" y="25603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6796" y="2779776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2468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E3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3840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Dijital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Pazarlama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96112" y="4800600"/>
            <a:ext cx="21854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Strateji, SEO, e-posta/SMS, CRM ve satış hunisi yönetimi.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456432" y="2286000"/>
            <a:ext cx="2697480" cy="3794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56432" y="22860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B02E26"/>
          </a:solidFill>
          <a:ln/>
        </p:spPr>
      </p:sp>
      <p:sp>
        <p:nvSpPr>
          <p:cNvPr id="15" name="Shape 12"/>
          <p:cNvSpPr/>
          <p:nvPr/>
        </p:nvSpPr>
        <p:spPr>
          <a:xfrm>
            <a:off x="3456432" y="3108960"/>
            <a:ext cx="2697480" cy="594360"/>
          </a:xfrm>
          <a:prstGeom prst="rect">
            <a:avLst/>
          </a:prstGeom>
          <a:solidFill>
            <a:srgbClr val="B02E26"/>
          </a:solidFill>
          <a:ln/>
        </p:spPr>
      </p:sp>
      <p:sp>
        <p:nvSpPr>
          <p:cNvPr id="16" name="Shape 13"/>
          <p:cNvSpPr/>
          <p:nvPr/>
        </p:nvSpPr>
        <p:spPr>
          <a:xfrm>
            <a:off x="4393692" y="25603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779776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85032" y="2468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E3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3639312" y="3840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Reklam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Yönetimi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3712464" y="4800600"/>
            <a:ext cx="21854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&amp; Google reklamları, katalog, remarketing, bütçe optimizasyonu.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272784" y="2286000"/>
            <a:ext cx="2697480" cy="3794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72784" y="22860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C98A3C"/>
          </a:solidFill>
          <a:ln/>
        </p:spPr>
      </p:sp>
      <p:sp>
        <p:nvSpPr>
          <p:cNvPr id="23" name="Shape 19"/>
          <p:cNvSpPr/>
          <p:nvPr/>
        </p:nvSpPr>
        <p:spPr>
          <a:xfrm>
            <a:off x="6272784" y="3108960"/>
            <a:ext cx="2697480" cy="594360"/>
          </a:xfrm>
          <a:prstGeom prst="rect">
            <a:avLst/>
          </a:prstGeom>
          <a:solidFill>
            <a:srgbClr val="C98A3C"/>
          </a:solidFill>
          <a:ln/>
        </p:spPr>
      </p:sp>
      <p:sp>
        <p:nvSpPr>
          <p:cNvPr id="24" name="Shape 20"/>
          <p:cNvSpPr/>
          <p:nvPr/>
        </p:nvSpPr>
        <p:spPr>
          <a:xfrm>
            <a:off x="7210044" y="25603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2779776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501384" y="2468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E3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455664" y="3840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İçerik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Üretimi</a:t>
            </a:r>
            <a:endParaRPr lang="en-US" sz="2000" dirty="0"/>
          </a:p>
        </p:txBody>
      </p:sp>
      <p:sp>
        <p:nvSpPr>
          <p:cNvPr id="28" name="Text 23"/>
          <p:cNvSpPr/>
          <p:nvPr/>
        </p:nvSpPr>
        <p:spPr>
          <a:xfrm>
            <a:off x="6528816" y="4800600"/>
            <a:ext cx="21854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fotoğrafı, reels/video, UGC ve içerik takvimi.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9089136" y="2286000"/>
            <a:ext cx="2697480" cy="3794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089136" y="22860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0B1240"/>
          </a:solidFill>
          <a:ln/>
        </p:spPr>
      </p:sp>
      <p:sp>
        <p:nvSpPr>
          <p:cNvPr id="31" name="Shape 26"/>
          <p:cNvSpPr/>
          <p:nvPr/>
        </p:nvSpPr>
        <p:spPr>
          <a:xfrm>
            <a:off x="9089136" y="3108960"/>
            <a:ext cx="2697480" cy="594360"/>
          </a:xfrm>
          <a:prstGeom prst="rect">
            <a:avLst/>
          </a:prstGeom>
          <a:solidFill>
            <a:srgbClr val="0B1240"/>
          </a:solidFill>
          <a:ln/>
        </p:spPr>
      </p:sp>
      <p:sp>
        <p:nvSpPr>
          <p:cNvPr id="32" name="Shape 27"/>
          <p:cNvSpPr/>
          <p:nvPr/>
        </p:nvSpPr>
        <p:spPr>
          <a:xfrm>
            <a:off x="10026396" y="25603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852" y="2779776"/>
            <a:ext cx="384048" cy="38404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317736" y="2468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E3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9272016" y="3840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Ticimax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Teknik Destek</a:t>
            </a:r>
            <a:endParaRPr lang="en-US" sz="2000" dirty="0"/>
          </a:p>
        </p:txBody>
      </p:sp>
      <p:sp>
        <p:nvSpPr>
          <p:cNvPr id="36" name="Text 30"/>
          <p:cNvSpPr/>
          <p:nvPr/>
        </p:nvSpPr>
        <p:spPr>
          <a:xfrm>
            <a:off x="9345168" y="4800600"/>
            <a:ext cx="21854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Altyapı, entegrasyon, hız, SEO ayarları ve dönüşüm optimizasyonu.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4206240" cy="5943600"/>
          </a:xfrm>
          <a:prstGeom prst="roundRect">
            <a:avLst>
              <a:gd name="adj" fmla="val 2609"/>
            </a:avLst>
          </a:prstGeom>
          <a:solidFill>
            <a:srgbClr val="1E40D6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4754880"/>
            <a:ext cx="3108960" cy="3108960"/>
          </a:xfrm>
          <a:prstGeom prst="ellipse">
            <a:avLst/>
          </a:prstGeom>
          <a:solidFill>
            <a:srgbClr val="5B78F0"/>
          </a:solidFill>
          <a:ln/>
        </p:spPr>
      </p:sp>
      <p:sp>
        <p:nvSpPr>
          <p:cNvPr id="4" name="Shape 2"/>
          <p:cNvSpPr/>
          <p:nvPr/>
        </p:nvSpPr>
        <p:spPr>
          <a:xfrm>
            <a:off x="3566160" y="5212080"/>
            <a:ext cx="2194560" cy="2194560"/>
          </a:xfrm>
          <a:prstGeom prst="ellipse">
            <a:avLst/>
          </a:prstGeom>
          <a:solidFill>
            <a:srgbClr val="1E40D6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86868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751" y="11183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965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E3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60120" y="23774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Dijital Pazarlama Süreçleri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960120" y="39776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Reklamı besleyen strateji ve müşteri sadakati katmanı.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212080" y="868680"/>
            <a:ext cx="6309360" cy="1024128"/>
          </a:xfrm>
          <a:prstGeom prst="roundRect">
            <a:avLst>
              <a:gd name="adj" fmla="val 7143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31536" y="1106424"/>
            <a:ext cx="548640" cy="54864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696" y="124358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172200" y="1014984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Strateji &amp; Konumlama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172200" y="138074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kitle, mesaj ve fiyat konumunun netleştirilmesi; aylık yol haritası.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212080" y="2002536"/>
            <a:ext cx="6309360" cy="1024128"/>
          </a:xfrm>
          <a:prstGeom prst="roundRect">
            <a:avLst>
              <a:gd name="adj" fmla="val 7143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31536" y="2240280"/>
            <a:ext cx="548640" cy="54864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696" y="237744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72200" y="214884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&amp; İçerik Planı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172200" y="25146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ve blog SEO'su ile organik trafik; 'wagyu, dry age, online kasap' hedefleme.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212080" y="3136392"/>
            <a:ext cx="6309360" cy="1024128"/>
          </a:xfrm>
          <a:prstGeom prst="roundRect">
            <a:avLst>
              <a:gd name="adj" fmla="val 7143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431536" y="3374136"/>
            <a:ext cx="548640" cy="54864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696" y="351129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172200" y="3282696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E-posta &amp; SMS Otomasyonu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6172200" y="364845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Sepet hatırlatma, ilk sipariş serisi, kampanya ve doğum günü akışları.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212080" y="4270248"/>
            <a:ext cx="6309360" cy="1024128"/>
          </a:xfrm>
          <a:prstGeom prst="roundRect">
            <a:avLst>
              <a:gd name="adj" fmla="val 7143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431536" y="4507992"/>
            <a:ext cx="548640" cy="54864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696" y="4645152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172200" y="4416552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&amp; Sadakat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6172200" y="478231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segmentasyonu, tekrar satış, VIP ve abonelik senaryoları.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5212080" y="5404104"/>
            <a:ext cx="6309360" cy="1024128"/>
          </a:xfrm>
          <a:prstGeom prst="roundRect">
            <a:avLst>
              <a:gd name="adj" fmla="val 7143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431536" y="5641848"/>
            <a:ext cx="548640" cy="548640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8696" y="577900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172200" y="5550408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Analitik &amp; Raporlama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172200" y="591616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GA4, piksel, dönüşüm takibi ve şeffaf aylık performans raporu.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PERFORMANS PAZARLAMASI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Reklam Yönetimi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640080"/>
            <a:ext cx="960120" cy="960120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889711"/>
            <a:ext cx="460858" cy="4608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lirayı ölçülebilir satışa çeviren, katalog ve remarketing odaklı reklam kurgusu.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111A55"/>
          </a:solidFill>
          <a:ln/>
        </p:spPr>
      </p:sp>
      <p:sp>
        <p:nvSpPr>
          <p:cNvPr id="8" name="Shape 5"/>
          <p:cNvSpPr/>
          <p:nvPr/>
        </p:nvSpPr>
        <p:spPr>
          <a:xfrm>
            <a:off x="896112" y="2542032"/>
            <a:ext cx="658368" cy="658368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288" y="2713208"/>
            <a:ext cx="316017" cy="31601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596896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96112" y="321868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&amp; Facebook: dinamik ürün katalog reklamları, video/reels reklamları.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352544" y="228600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111A55"/>
          </a:solidFill>
          <a:ln/>
        </p:spPr>
      </p:sp>
      <p:sp>
        <p:nvSpPr>
          <p:cNvPr id="13" name="Shape 9"/>
          <p:cNvSpPr/>
          <p:nvPr/>
        </p:nvSpPr>
        <p:spPr>
          <a:xfrm>
            <a:off x="4608576" y="2542032"/>
            <a:ext cx="658368" cy="658368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752" y="2713208"/>
            <a:ext cx="316017" cy="31601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04104" y="2596896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608576" y="321868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Arama, Performance Max ve Shopping ile satın alma niyetli trafik.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8065008" y="228600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111A55"/>
          </a:solidFill>
          <a:ln/>
        </p:spPr>
      </p:sp>
      <p:sp>
        <p:nvSpPr>
          <p:cNvPr id="18" name="Shape 13"/>
          <p:cNvSpPr/>
          <p:nvPr/>
        </p:nvSpPr>
        <p:spPr>
          <a:xfrm>
            <a:off x="8321040" y="2542032"/>
            <a:ext cx="658368" cy="658368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216" y="2713208"/>
            <a:ext cx="316017" cy="31601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16568" y="2596896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8321040" y="321868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Siteyi gezen, sepette bırakan ve eski müşterilere özel geri kazanım.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40080" y="40690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111A55"/>
          </a:solidFill>
          <a:ln/>
        </p:spPr>
      </p:sp>
      <p:sp>
        <p:nvSpPr>
          <p:cNvPr id="23" name="Shape 17"/>
          <p:cNvSpPr/>
          <p:nvPr/>
        </p:nvSpPr>
        <p:spPr>
          <a:xfrm>
            <a:off x="896112" y="4325112"/>
            <a:ext cx="658368" cy="658368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8" y="4496288"/>
            <a:ext cx="316017" cy="316017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91640" y="4379976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Kitle Stratejisi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896112" y="500176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Benzer kitleler, ilgi &amp; davranış hedefleme, VIP müşteri kitleleri.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4352544" y="40690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111A55"/>
          </a:solidFill>
          <a:ln/>
        </p:spPr>
      </p:sp>
      <p:sp>
        <p:nvSpPr>
          <p:cNvPr id="28" name="Shape 21"/>
          <p:cNvSpPr/>
          <p:nvPr/>
        </p:nvSpPr>
        <p:spPr>
          <a:xfrm>
            <a:off x="4608576" y="4325112"/>
            <a:ext cx="658368" cy="658368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9752" y="4496288"/>
            <a:ext cx="316017" cy="316017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404104" y="4379976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Bütçe &amp; Teklif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608576" y="500176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hedefli bütçe dağılımı, ölçekleme ve kampanya takvimi.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8065008" y="40690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111A55"/>
          </a:solidFill>
          <a:ln/>
        </p:spPr>
      </p:sp>
      <p:sp>
        <p:nvSpPr>
          <p:cNvPr id="33" name="Shape 25"/>
          <p:cNvSpPr/>
          <p:nvPr/>
        </p:nvSpPr>
        <p:spPr>
          <a:xfrm>
            <a:off x="8321040" y="4325112"/>
            <a:ext cx="658368" cy="658368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216" y="4496288"/>
            <a:ext cx="316017" cy="316017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9116568" y="4379976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Kreatif Testi</a:t>
            </a:r>
            <a:endParaRPr lang="en-US" sz="1600" dirty="0"/>
          </a:p>
        </p:txBody>
      </p:sp>
      <p:sp>
        <p:nvSpPr>
          <p:cNvPr id="36" name="Text 27"/>
          <p:cNvSpPr/>
          <p:nvPr/>
        </p:nvSpPr>
        <p:spPr>
          <a:xfrm>
            <a:off x="8321040" y="500176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görsel-metin testleri; en iyi performanslı kreatifi büyütme.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640080" y="5989320"/>
            <a:ext cx="10908792" cy="658368"/>
          </a:xfrm>
          <a:prstGeom prst="roundRect">
            <a:avLst>
              <a:gd name="adj" fmla="val 11111"/>
            </a:avLst>
          </a:prstGeom>
          <a:solidFill>
            <a:srgbClr val="1E40D6"/>
          </a:solidFill>
          <a:ln/>
        </p:spPr>
      </p:sp>
      <p:sp>
        <p:nvSpPr>
          <p:cNvPr id="38" name="Text 29"/>
          <p:cNvSpPr/>
          <p:nvPr/>
        </p:nvSpPr>
        <p:spPr>
          <a:xfrm>
            <a:off x="914400" y="5989320"/>
            <a:ext cx="245287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&amp; Sipariş</a:t>
            </a:r>
            <a:endParaRPr lang="en-US" sz="1100" dirty="0"/>
          </a:p>
        </p:txBody>
      </p:sp>
      <p:sp>
        <p:nvSpPr>
          <p:cNvPr id="39" name="Text 30"/>
          <p:cNvSpPr/>
          <p:nvPr/>
        </p:nvSpPr>
        <p:spPr>
          <a:xfrm>
            <a:off x="3641598" y="5989320"/>
            <a:ext cx="245287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Takip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Meta Piksel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6368796" y="5989320"/>
            <a:ext cx="245287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Optimizasyon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Haftalık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9095994" y="5989320"/>
            <a:ext cx="245287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Raporlama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Şeffaf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MARKA &amp; TALEP ÜRETİMİ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İçerik Üretimi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Ragyu'nun güçlü görsel dilini besleyen, satışa hizmet eden düzenli içerik akışı.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23160"/>
            <a:ext cx="713232" cy="713232"/>
          </a:xfrm>
          <a:prstGeom prst="ellipse">
            <a:avLst/>
          </a:prstGeom>
          <a:solidFill>
            <a:srgbClr val="F1E6D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260860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200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Fotoğrafı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14400" y="352044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Etin dokusunu öne çıkaran premium ürün ve paket çekimleri.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34256" y="2148840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08576" y="2423160"/>
            <a:ext cx="713232" cy="713232"/>
          </a:xfrm>
          <a:prstGeom prst="ellipse">
            <a:avLst/>
          </a:prstGeom>
          <a:solidFill>
            <a:srgbClr val="F1E6D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016" y="2608600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3200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&amp; Video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08576" y="352044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kesim, hazırlık ve pişirme videoları; keşfet odaklı reels.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28432" y="2148840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02752" y="2423160"/>
            <a:ext cx="713232" cy="713232"/>
          </a:xfrm>
          <a:prstGeom prst="ellipse">
            <a:avLst/>
          </a:prstGeom>
          <a:solidFill>
            <a:srgbClr val="F1E6D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192" y="2608600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02752" y="3200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UGC &amp; Topluluk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302752" y="352044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içerikleri, 'sizden gelenler' ve influencer iş birlikleri.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40080" y="4160520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434840"/>
            <a:ext cx="713232" cy="713232"/>
          </a:xfrm>
          <a:prstGeom prst="ellipse">
            <a:avLst/>
          </a:prstGeom>
          <a:solidFill>
            <a:srgbClr val="F1E6D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840" y="4620280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400" y="5212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 İçerikleri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14400" y="5532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'Evde fast food', barbekü ve pişirme rehberleri ile değer katma.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334256" y="4160520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608576" y="4434840"/>
            <a:ext cx="713232" cy="713232"/>
          </a:xfrm>
          <a:prstGeom prst="ellipse">
            <a:avLst/>
          </a:prstGeom>
          <a:solidFill>
            <a:srgbClr val="F1E6D2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4016" y="4620280"/>
            <a:ext cx="342351" cy="34235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08576" y="5212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Takvimi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4608576" y="5532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plan: kampanya, ürün lansmanı ve sezon temalarıyla senkron.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8028432" y="4160520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302752" y="4434840"/>
            <a:ext cx="713232" cy="713232"/>
          </a:xfrm>
          <a:prstGeom prst="ellipse">
            <a:avLst/>
          </a:prstGeom>
          <a:solidFill>
            <a:srgbClr val="F1E6D2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8192" y="4620280"/>
            <a:ext cx="342351" cy="34235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02752" y="5212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Yönetim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8302752" y="5532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Paylaşım, story, öne çıkanlar ve topluluk/mesaj yönetimi.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42632" y="457200"/>
            <a:ext cx="4206240" cy="5943600"/>
          </a:xfrm>
          <a:prstGeom prst="roundRect">
            <a:avLst>
              <a:gd name="adj" fmla="val 2609"/>
            </a:avLst>
          </a:prstGeom>
          <a:solidFill>
            <a:srgbClr val="0B124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1280160"/>
            <a:ext cx="2926080" cy="2926080"/>
          </a:xfrm>
          <a:prstGeom prst="ellipse">
            <a:avLst/>
          </a:prstGeom>
          <a:solidFill>
            <a:srgbClr val="111A55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868680"/>
            <a:ext cx="960120" cy="960120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6591" y="1118311"/>
            <a:ext cx="460858" cy="4608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0" y="1965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E3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680960" y="23774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Ticimax</a:t>
            </a:r>
            <a:endParaRPr lang="en-US" sz="2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Teknik Destek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7680960" y="3840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altyapıyı satışa ve reklama hazır hale getiren teknik yönetim.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E4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ALTYAPI YÖNETİMİ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777240"/>
            <a:ext cx="6583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8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Ticimax Altyapı &amp; Teknik Destek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40080" y="2057400"/>
            <a:ext cx="6355080" cy="713232"/>
          </a:xfrm>
          <a:prstGeom prst="roundRect">
            <a:avLst>
              <a:gd name="adj" fmla="val 8974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203704"/>
            <a:ext cx="420624" cy="420624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313432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205740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Yönetimi  —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Ürün, kategori, kampanya ve stok kurgusunun düzenli yönetimi.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2839212"/>
            <a:ext cx="6355080" cy="713232"/>
          </a:xfrm>
          <a:prstGeom prst="roundRect">
            <a:avLst>
              <a:gd name="adj" fmla="val 8974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2985516"/>
            <a:ext cx="420624" cy="420624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09524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28392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İçi SEO  —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başlık/açıklama, URL, ürün açıklaması ve sitemap optimizasyonu.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3621024"/>
            <a:ext cx="6355080" cy="713232"/>
          </a:xfrm>
          <a:prstGeom prst="roundRect">
            <a:avLst>
              <a:gd name="adj" fmla="val 8974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3767328"/>
            <a:ext cx="420624" cy="420624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3877056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2102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Entegrasyonlar  —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katalog, GA4, piksel, e-posta/SMS ve pazaryeri bağlantıları.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40080" y="4402836"/>
            <a:ext cx="6355080" cy="713232"/>
          </a:xfrm>
          <a:prstGeom prst="roundRect">
            <a:avLst>
              <a:gd name="adj" fmla="val 8974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4549140"/>
            <a:ext cx="420624" cy="420624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4658868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40283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&amp; Performans  —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optimizasyonu ve sayfa hızı ile daha yüksek dönüşüm.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640080" y="5184648"/>
            <a:ext cx="6355080" cy="713232"/>
          </a:xfrm>
          <a:prstGeom prst="roundRect">
            <a:avLst>
              <a:gd name="adj" fmla="val 8974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822960" y="5330952"/>
            <a:ext cx="420624" cy="420624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5440680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417320" y="518464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Optimizasyonu  —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sayfası, sepet ve ödeme akışının satışa göre iyileştirilmesi.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0080" y="5966460"/>
            <a:ext cx="6355080" cy="713232"/>
          </a:xfrm>
          <a:prstGeom prst="roundRect">
            <a:avLst>
              <a:gd name="adj" fmla="val 8974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822960" y="6112764"/>
            <a:ext cx="420624" cy="420624"/>
          </a:xfrm>
          <a:prstGeom prst="ellipse">
            <a:avLst/>
          </a:prstGeom>
          <a:solidFill>
            <a:srgbClr val="E7EBFB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622249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417320" y="596646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Desteği  —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Ticimax destek hattıyla koordinasyon, güncelleme ve sorun takibi.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 HARİTASI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90 Günlük Çalışma Planı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kazanımlarla başlayıp sürdürülebilir büyümeye geçen aşamalı bir kurulum.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611880" cy="3977640"/>
          </a:xfrm>
          <a:prstGeom prst="roundRect">
            <a:avLst>
              <a:gd name="adj" fmla="val 2532"/>
            </a:avLst>
          </a:prstGeom>
          <a:solidFill>
            <a:srgbClr val="111A55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40280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1E40D6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743200"/>
            <a:ext cx="3611880" cy="411480"/>
          </a:xfrm>
          <a:prstGeom prst="rect">
            <a:avLst/>
          </a:prstGeom>
          <a:solidFill>
            <a:srgbClr val="1E40D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68296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GÜN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Kurulum &amp; Temel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32688" y="3456432"/>
            <a:ext cx="256032" cy="256032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511296"/>
            <a:ext cx="146304" cy="1463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33832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Analiz, strateji ve hedef belirleme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32688" y="4123944"/>
            <a:ext cx="256032" cy="256032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4178808"/>
            <a:ext cx="146304" cy="1463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4050792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Piksel, GA4, katalog kurulumu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32688" y="4791456"/>
            <a:ext cx="256032" cy="256032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846320"/>
            <a:ext cx="146304" cy="14630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4718304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Ticimax SEO &amp; hız denetimi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32688" y="5458968"/>
            <a:ext cx="256032" cy="256032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513832"/>
            <a:ext cx="146304" cy="14630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25880" y="5385816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reklam kampanyaları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379976" y="2240280"/>
            <a:ext cx="3611880" cy="3977640"/>
          </a:xfrm>
          <a:prstGeom prst="roundRect">
            <a:avLst>
              <a:gd name="adj" fmla="val 2532"/>
            </a:avLst>
          </a:prstGeom>
          <a:solidFill>
            <a:srgbClr val="111A55"/>
          </a:solidFill>
          <a:ln/>
        </p:spPr>
      </p:sp>
      <p:sp>
        <p:nvSpPr>
          <p:cNvPr id="23" name="Shape 17"/>
          <p:cNvSpPr/>
          <p:nvPr/>
        </p:nvSpPr>
        <p:spPr>
          <a:xfrm>
            <a:off x="4379976" y="2240280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B02E26"/>
          </a:solidFill>
          <a:ln/>
        </p:spPr>
      </p:sp>
      <p:sp>
        <p:nvSpPr>
          <p:cNvPr id="24" name="Shape 18"/>
          <p:cNvSpPr/>
          <p:nvPr/>
        </p:nvSpPr>
        <p:spPr>
          <a:xfrm>
            <a:off x="4379976" y="2743200"/>
            <a:ext cx="3611880" cy="411480"/>
          </a:xfrm>
          <a:prstGeom prst="rect">
            <a:avLst/>
          </a:prstGeom>
          <a:solidFill>
            <a:srgbClr val="B02E26"/>
          </a:solidFill>
          <a:ln/>
        </p:spPr>
      </p:sp>
      <p:sp>
        <p:nvSpPr>
          <p:cNvPr id="25" name="Text 19"/>
          <p:cNvSpPr/>
          <p:nvPr/>
        </p:nvSpPr>
        <p:spPr>
          <a:xfrm>
            <a:off x="4654296" y="2368296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GÜN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654296" y="2697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Ölçekleme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672584" y="3456432"/>
            <a:ext cx="256032" cy="256032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511296"/>
            <a:ext cx="146304" cy="14630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065776" y="33832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 bütçe optimizasyonu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4672584" y="4123944"/>
            <a:ext cx="256032" cy="256032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4178808"/>
            <a:ext cx="146304" cy="14630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065776" y="4050792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&amp; huni kurulumu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4672584" y="4791456"/>
            <a:ext cx="256032" cy="256032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846320"/>
            <a:ext cx="146304" cy="146304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5065776" y="4718304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Düzenli içerik akışı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72584" y="5458968"/>
            <a:ext cx="256032" cy="256032"/>
          </a:xfrm>
          <a:prstGeom prst="ellipse">
            <a:avLst/>
          </a:prstGeom>
          <a:solidFill>
            <a:srgbClr val="B02E26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7448" y="5513832"/>
            <a:ext cx="146304" cy="146304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5065776" y="5385816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E-posta/SMS otomasyonu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8119872" y="2240280"/>
            <a:ext cx="3611880" cy="3977640"/>
          </a:xfrm>
          <a:prstGeom prst="roundRect">
            <a:avLst>
              <a:gd name="adj" fmla="val 2532"/>
            </a:avLst>
          </a:prstGeom>
          <a:solidFill>
            <a:srgbClr val="111A55"/>
          </a:solidFill>
          <a:ln/>
        </p:spPr>
      </p:sp>
      <p:sp>
        <p:nvSpPr>
          <p:cNvPr id="40" name="Shape 30"/>
          <p:cNvSpPr/>
          <p:nvPr/>
        </p:nvSpPr>
        <p:spPr>
          <a:xfrm>
            <a:off x="8119872" y="2240280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C98A3C"/>
          </a:solidFill>
          <a:ln/>
        </p:spPr>
      </p:sp>
      <p:sp>
        <p:nvSpPr>
          <p:cNvPr id="41" name="Shape 31"/>
          <p:cNvSpPr/>
          <p:nvPr/>
        </p:nvSpPr>
        <p:spPr>
          <a:xfrm>
            <a:off x="8119872" y="2743200"/>
            <a:ext cx="3611880" cy="411480"/>
          </a:xfrm>
          <a:prstGeom prst="rect">
            <a:avLst/>
          </a:prstGeom>
          <a:solidFill>
            <a:srgbClr val="C98A3C"/>
          </a:solidFill>
          <a:ln/>
        </p:spPr>
      </p:sp>
      <p:sp>
        <p:nvSpPr>
          <p:cNvPr id="42" name="Text 32"/>
          <p:cNvSpPr/>
          <p:nvPr/>
        </p:nvSpPr>
        <p:spPr>
          <a:xfrm>
            <a:off x="8394192" y="2368296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60–90 GÜN</a:t>
            </a:r>
            <a:endParaRPr lang="en-US" sz="1300" dirty="0"/>
          </a:p>
        </p:txBody>
      </p:sp>
      <p:sp>
        <p:nvSpPr>
          <p:cNvPr id="43" name="Text 33"/>
          <p:cNvSpPr/>
          <p:nvPr/>
        </p:nvSpPr>
        <p:spPr>
          <a:xfrm>
            <a:off x="8394192" y="2697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Büyüme &amp; Sadakat</a:t>
            </a:r>
            <a:endParaRPr lang="en-US" sz="1800" dirty="0"/>
          </a:p>
        </p:txBody>
      </p:sp>
      <p:sp>
        <p:nvSpPr>
          <p:cNvPr id="44" name="Shape 34"/>
          <p:cNvSpPr/>
          <p:nvPr/>
        </p:nvSpPr>
        <p:spPr>
          <a:xfrm>
            <a:off x="8412480" y="3456432"/>
            <a:ext cx="256032" cy="256032"/>
          </a:xfrm>
          <a:prstGeom prst="ellipse">
            <a:avLst/>
          </a:prstGeom>
          <a:solidFill>
            <a:srgbClr val="C98A3C"/>
          </a:solidFill>
          <a:ln/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67344" y="3511296"/>
            <a:ext cx="146304" cy="146304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8805672" y="33832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Kazanan kreatifleri büyütme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8412480" y="4123944"/>
            <a:ext cx="256032" cy="256032"/>
          </a:xfrm>
          <a:prstGeom prst="ellipse">
            <a:avLst/>
          </a:prstGeom>
          <a:solidFill>
            <a:srgbClr val="C98A3C"/>
          </a:solidFill>
          <a:ln/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67344" y="4178808"/>
            <a:ext cx="146304" cy="146304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8805672" y="4050792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&amp; tekrar satış senaryoları</a:t>
            </a:r>
            <a:endParaRPr lang="en-US" sz="1200" dirty="0"/>
          </a:p>
        </p:txBody>
      </p:sp>
      <p:sp>
        <p:nvSpPr>
          <p:cNvPr id="50" name="Shape 38"/>
          <p:cNvSpPr/>
          <p:nvPr/>
        </p:nvSpPr>
        <p:spPr>
          <a:xfrm>
            <a:off x="8412480" y="4791456"/>
            <a:ext cx="256032" cy="256032"/>
          </a:xfrm>
          <a:prstGeom prst="ellipse">
            <a:avLst/>
          </a:prstGeom>
          <a:solidFill>
            <a:srgbClr val="C98A3C"/>
          </a:solidFill>
          <a:ln/>
        </p:spPr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7344" y="4846320"/>
            <a:ext cx="146304" cy="146304"/>
          </a:xfrm>
          <a:prstGeom prst="rect">
            <a:avLst/>
          </a:prstGeom>
        </p:spPr>
      </p:pic>
      <p:sp>
        <p:nvSpPr>
          <p:cNvPr id="52" name="Text 39"/>
          <p:cNvSpPr/>
          <p:nvPr/>
        </p:nvSpPr>
        <p:spPr>
          <a:xfrm>
            <a:off x="8805672" y="4718304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içerik üretimi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8412480" y="5458968"/>
            <a:ext cx="256032" cy="256032"/>
          </a:xfrm>
          <a:prstGeom prst="ellipse">
            <a:avLst/>
          </a:prstGeom>
          <a:solidFill>
            <a:srgbClr val="C98A3C"/>
          </a:solidFill>
          <a:ln/>
        </p:spPr>
      </p:sp>
      <p:pic>
        <p:nvPicPr>
          <p:cNvPr id="5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7344" y="5513832"/>
            <a:ext cx="146304" cy="146304"/>
          </a:xfrm>
          <a:prstGeom prst="rect">
            <a:avLst/>
          </a:prstGeom>
        </p:spPr>
      </p:pic>
      <p:sp>
        <p:nvSpPr>
          <p:cNvPr id="55" name="Text 41"/>
          <p:cNvSpPr/>
          <p:nvPr/>
        </p:nvSpPr>
        <p:spPr>
          <a:xfrm>
            <a:off x="8805672" y="5385816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 raporu &amp; yeni hedefler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E4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ŞEFFAFLIK &amp; GÜVEN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Ölçüm, KPI &amp; Raporlama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çalışma ölçülebilir hedeflere bağlıdır. Neyi takip edeceğimizi baştan netleştiriyoruz.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532888"/>
            <a:ext cx="221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96112" y="342900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 Getirisi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13048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Harcanan her liranın kaç lira satışa döndüğü.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24028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532888"/>
            <a:ext cx="221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02E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685032" y="342900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Oranı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85032" y="3813048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Ziyaretçinin siparişe dönüşme yüzdesi.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24028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532888"/>
            <a:ext cx="221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8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73952" y="342900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Maliyeti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73952" y="3813048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bir müşteri kazanmanın ortalama maliyeti.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06840" y="224028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5F1E8"/>
          </a:solidFill>
          <a:ln w="12700">
            <a:solidFill>
              <a:srgbClr val="E3DE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2532888"/>
            <a:ext cx="221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AOV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262872" y="342900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Sepet Tutarı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62872" y="3813048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sipariş değeri ve büyüme hedefi.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800600"/>
            <a:ext cx="10908792" cy="1417320"/>
          </a:xfrm>
          <a:prstGeom prst="roundRect">
            <a:avLst>
              <a:gd name="adj" fmla="val 6452"/>
            </a:avLst>
          </a:prstGeom>
          <a:solidFill>
            <a:srgbClr val="0B1240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5120640"/>
            <a:ext cx="777240" cy="777240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202" y="5322722"/>
            <a:ext cx="373075" cy="373075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965960" y="502920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Şeffaf Raporlama Ritmi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1965960" y="5440680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Haftalık: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 optimizasyonu   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detaylı performans raporu + toplantı   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&amp; reklam paneli erişimi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2194560"/>
            <a:ext cx="6035040" cy="6035040"/>
          </a:xfrm>
          <a:prstGeom prst="ellipse">
            <a:avLst/>
          </a:prstGeom>
          <a:solidFill>
            <a:srgbClr val="111A55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566160"/>
            <a:ext cx="4023360" cy="4023360"/>
          </a:xfrm>
          <a:prstGeom prst="ellipse">
            <a:avLst/>
          </a:prstGeom>
          <a:solidFill>
            <a:srgbClr val="1E40D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B7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 Ekip, Uçtan Uca Büyüme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5074920" cy="1280160"/>
          </a:xfrm>
          <a:prstGeom prst="roundRect">
            <a:avLst>
              <a:gd name="adj" fmla="val 6429"/>
            </a:avLst>
          </a:prstGeom>
          <a:solidFill>
            <a:srgbClr val="111A55"/>
          </a:solidFill>
          <a:ln/>
        </p:spPr>
      </p:sp>
      <p:sp>
        <p:nvSpPr>
          <p:cNvPr id="7" name="Shape 5"/>
          <p:cNvSpPr/>
          <p:nvPr/>
        </p:nvSpPr>
        <p:spPr>
          <a:xfrm>
            <a:off x="1078992" y="2834640"/>
            <a:ext cx="658368" cy="658368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168" y="3005816"/>
            <a:ext cx="316017" cy="3160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71576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Odaklı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874520" y="311810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Beğeni değil, sipariş ve ciro hedefleriz.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72200" y="2514600"/>
            <a:ext cx="5074920" cy="1280160"/>
          </a:xfrm>
          <a:prstGeom prst="roundRect">
            <a:avLst>
              <a:gd name="adj" fmla="val 6429"/>
            </a:avLst>
          </a:prstGeom>
          <a:solidFill>
            <a:srgbClr val="111A55"/>
          </a:solidFill>
          <a:ln/>
        </p:spPr>
      </p:sp>
      <p:sp>
        <p:nvSpPr>
          <p:cNvPr id="12" name="Shape 9"/>
          <p:cNvSpPr/>
          <p:nvPr/>
        </p:nvSpPr>
        <p:spPr>
          <a:xfrm>
            <a:off x="6428232" y="2834640"/>
            <a:ext cx="658368" cy="658368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8" y="3005816"/>
            <a:ext cx="316017" cy="31601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271576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Bütünsel Yaklaşım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223760" y="311810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Reklam, içerik ve altyapı tek stratejide.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22960" y="4023360"/>
            <a:ext cx="5074920" cy="1280160"/>
          </a:xfrm>
          <a:prstGeom prst="roundRect">
            <a:avLst>
              <a:gd name="adj" fmla="val 6429"/>
            </a:avLst>
          </a:prstGeom>
          <a:solidFill>
            <a:srgbClr val="111A55"/>
          </a:solidFill>
          <a:ln/>
        </p:spPr>
      </p:sp>
      <p:sp>
        <p:nvSpPr>
          <p:cNvPr id="17" name="Shape 13"/>
          <p:cNvSpPr/>
          <p:nvPr/>
        </p:nvSpPr>
        <p:spPr>
          <a:xfrm>
            <a:off x="1078992" y="4343400"/>
            <a:ext cx="658368" cy="658368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168" y="4514576"/>
            <a:ext cx="316017" cy="31601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874520" y="4224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Ticimax Uzmanlığı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1874520" y="462686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reklam değil, altyapıyı da yönetiriz.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172200" y="4023360"/>
            <a:ext cx="5074920" cy="1280160"/>
          </a:xfrm>
          <a:prstGeom prst="roundRect">
            <a:avLst>
              <a:gd name="adj" fmla="val 6429"/>
            </a:avLst>
          </a:prstGeom>
          <a:solidFill>
            <a:srgbClr val="111A55"/>
          </a:solidFill>
          <a:ln/>
        </p:spPr>
      </p:sp>
      <p:sp>
        <p:nvSpPr>
          <p:cNvPr id="22" name="Shape 17"/>
          <p:cNvSpPr/>
          <p:nvPr/>
        </p:nvSpPr>
        <p:spPr>
          <a:xfrm>
            <a:off x="6428232" y="4343400"/>
            <a:ext cx="658368" cy="658368"/>
          </a:xfrm>
          <a:prstGeom prst="ellipse">
            <a:avLst/>
          </a:prstGeom>
          <a:solidFill>
            <a:srgbClr val="1E40D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9408" y="4514576"/>
            <a:ext cx="316017" cy="31601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23760" y="4224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Şeffaflık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7223760" y="462686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9C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Ölçülebilir hedefler ve düzenli raporlama.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822960" y="5623560"/>
            <a:ext cx="10561320" cy="841248"/>
          </a:xfrm>
          <a:prstGeom prst="roundRect">
            <a:avLst>
              <a:gd name="adj" fmla="val 10870"/>
            </a:avLst>
          </a:prstGeom>
          <a:solidFill>
            <a:srgbClr val="1E40D6"/>
          </a:solidFill>
          <a:ln/>
        </p:spPr>
      </p:sp>
      <p:sp>
        <p:nvSpPr>
          <p:cNvPr id="27" name="Text 21"/>
          <p:cNvSpPr/>
          <p:nvPr/>
        </p:nvSpPr>
        <p:spPr>
          <a:xfrm>
            <a:off x="1097280" y="5623560"/>
            <a:ext cx="69494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sonraki adım: hedefleri netleştirip 30 günlük kurulum planını başlatmak.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7772400" y="5623560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Partum Ajans   ·   </a:t>
            </a:r>
            <a:pPr algn="r" indent="0" marL="0">
              <a:buNone/>
            </a:pPr>
            <a:r>
              <a:rPr lang="en-US" sz="1300" dirty="0">
                <a:solidFill>
                  <a:srgbClr val="DDE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partumajans@gmail.com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2026-07-18T10:24:06Z</dcterms:created>
  <dcterms:modified xsi:type="dcterms:W3CDTF">2026-07-18T10:24:06Z</dcterms:modified>
</cp:coreProperties>
</file>